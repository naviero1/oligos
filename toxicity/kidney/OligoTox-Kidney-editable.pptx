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 pitch: a clean, well-documented dataset of how oligonucleotide drugs harm the kidney, for the NIH/NCATS Phase 2 data challenge (which scores datasets). Oligo = a drug made of a short strand of genetic letters. Nephrotoxicity = kidney toxicity. Per-measurement = one experimental result per row.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safety test' is the cheap 'are the cells alive?' test. These drugs often DON'T kill cells, so that test gives a false all-clear. Our dataset records the subtler 'alive but not working' damage instead.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Oligo drugs are fast-growing and important; the kidney is especially exposed because it filters and concentrates them. Most existing OPEN oligo-tox data is about the LIVER; kidney is under-served, so an open kidney set fills a real gap (Phase 2 'potential impact').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kidney filters blood; proximal-tubule cells reabsorb small proteins. Megalin/cubilin receptors grab those proteins — and also these drugs, which pile up in lysosomes. The clogged cell stops reabsorbing → proteins leak to urine (proteinuria), but the cell does not die. Functional (not lethal) injury = grade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MTT/viability = the cheap 'are cells alive?' test. These drugs leave cells alive, so it says 'safe' — a false all-clear. The functional test (does the cell still reabsorb protein?) reveals the real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Readout category = the KIND of measurement. We deliberately collected mostly functional and injury-biomarker results and only a few viability ones (kept to contrast).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distinct drugs; 111 measured results. Every row is kidney-specific (no padding). 'Modality' = drug family. 'Negative controls' = known-safe examples. 'TBD' = missing data we refused to guess.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tables avoid repetition. oligos.csv = one row per drug with design predictors (causes). measurements.csv = one row per result with the graded outcome (effects). Primary key = unique ID; foreign key = oligo_id linking a result to its drug.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 = no signal (safe control). 1 = mild/functional/reversible (cells don't die). 2 = moderate — biomarker rise and/or histopathology. 3 = severe — AKI/glomerulonephritis/failure. Anchors: inotersen (3), SPC5001 (3), drisapersen (1). All provisional until expert sign-off.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 results by severity: 27 safe, 30 mild, 39 moderate, 15 severe. Grade-0 rows are deliberate safe examples of kidney-sparing drug types.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oligo families are represented; gapmers dominate (most common, most kidney-relevant).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In-vitro (dish), in-vivo (animal), clinical (human) all present across species — so you can compare how well animal results predict human ones (the translation gap).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methods, strongest first: (1) primary full-text read with PyMuPDF; (2) review/secondary, cross-checked; (3) WebSearch-derived ('WS', 36 rows) — flagged for verification because full-text fetch is blocked here. source_id tags every 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never make up two things: the drug's genetic sequence and any toxicity number — even the AI assistant could only fill them from a real citable source. Drugs lacking published kidney data were left out, not invented. That is why only 33/65 have sequences.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kidney-specific papers (read in full) plus real-world anchors/reviews/patents. N3 patent was the biggest source (sequence + toxicity together). 36 'WS' rows came from label/trial summaries and are flagged for re-checking.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drisapersen we have three rows: protein leak in human kidney cells (grade 1), cells alive (grade 0), monkey tissue normal (grade 0). Together = dysfunction without death — which viability-only datasets can't teach a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 11,105,794 Table 1 lists many oligos with BOTH sequence and an animal nephrotox rating. We mapped the word-ratings (innocuous/low/medium/high) to 0–3. +21 rows; sequences 13→33. Public domain = freely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these drugs, animals show more kidney damage than humans actually get. We placed human (Crooke 2018) and animal (Yu 2012 monkey) data in the same table, measured the same way, so the gap is analysable rather than hidden.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NCATS scores Phase 2 on four confidence factors; this maps our work to each: (1) useful for predictive models — predictors vs graded outcome; (2) fills the hepatic-vs-kidney gap; (3) trustworthy — sourced, QC'd; (4) open &amp; re-checkable — CC-BY, FAIR, regenerable.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granular technical scoring: Experimental design (20) — controls &amp; replicates; Data translatability (20) — can it improve predictive models; Dataset management (10) — metadata, FAIR, common data elements. Plus the required PADP.md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trust pillars: provenance (source_id/ref/table + redistribution right per row) and automated QC (enum checks, column counts, 0 referential orphans, no dup IDs, grades 0–3, no-guessing rule) — all passing.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state weaknesses openly: grades not expert-confirmed yet; 32 sequences blank; 36 web-sourced rows need re-checking; human-cell rows are the valuable core but still a minority; and the animal-over-prediction bias must be modeled.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concrete ask: (1) review the 0–3 grades vs the rubric and confirm/correct — focus on the 2-vs-3 boundary and the patent word→grade mapping; (2) sanity-check the core biology; (3) flag sources to re-verify (esp. the 36 web-summary rows). Everything else is paused until they weigh 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 of the project folder. The key file for review is data/measurements.csv (the graded results); the rubric is in schema.md. Every count regenerates from data/, so the deck can't drift from the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9144000" cy="274320"/>
          </a:xfrm>
          <a:prstGeom prst="rect">
            <a:avLst/>
          </a:prstGeom>
          <a:noFill/>
        </p:spPr>
        <p:txBody>
          <a:bodyPr wrap="square" anchor="t" lIns="0" rIns="0" tIns="0" bIns="0">
            <a:spAutoFit/>
          </a:bodyPr>
          <a:lstStyle/>
          <a:p>
            <a:pPr algn="l">
              <a:lnSpc>
                <a:spcPct val="108000"/>
              </a:lnSpc>
            </a:pPr>
            <a:r>
              <a:rPr sz="1200" b="1">
                <a:solidFill>
                  <a:srgbClr val="7FD3E0"/>
                </a:solidFill>
                <a:latin typeface="Arial"/>
              </a:rPr>
              <a:t>NCATS OLIGOTOX OPEN DATA CHALLENGE · PHASE 2</a:t>
            </a:r>
          </a:p>
        </p:txBody>
      </p:sp>
      <p:sp>
        <p:nvSpPr>
          <p:cNvPr id="4" name="TextBox 3"/>
          <p:cNvSpPr txBox="1"/>
          <p:nvPr/>
        </p:nvSpPr>
        <p:spPr>
          <a:xfrm>
            <a:off x="822960" y="2606040"/>
            <a:ext cx="10515600" cy="100584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OligoTox-Kidney</a:t>
            </a:r>
          </a:p>
        </p:txBody>
      </p:sp>
      <p:sp>
        <p:nvSpPr>
          <p:cNvPr id="5" name="TextBox 4"/>
          <p:cNvSpPr txBox="1"/>
          <p:nvPr/>
        </p:nvSpPr>
        <p:spPr>
          <a:xfrm>
            <a:off x="822960" y="3657600"/>
            <a:ext cx="10515600" cy="548640"/>
          </a:xfrm>
          <a:prstGeom prst="rect">
            <a:avLst/>
          </a:prstGeom>
          <a:noFill/>
        </p:spPr>
        <p:txBody>
          <a:bodyPr wrap="square" anchor="t" lIns="0" rIns="0" tIns="0" bIns="0">
            <a:spAutoFit/>
          </a:bodyPr>
          <a:lstStyle/>
          <a:p>
            <a:pPr algn="l">
              <a:lnSpc>
                <a:spcPct val="108000"/>
              </a:lnSpc>
            </a:pPr>
            <a:r>
              <a:rPr sz="2200" b="0">
                <a:solidFill>
                  <a:srgbClr val="BFE0E8"/>
                </a:solidFill>
                <a:latin typeface="Arial"/>
              </a:rPr>
              <a:t>A curated, per-measurement </a:t>
            </a:r>
            <a:r>
              <a:rPr sz="2200" b="1">
                <a:solidFill>
                  <a:srgbClr val="FFFFFF"/>
                </a:solidFill>
                <a:latin typeface="Arial"/>
              </a:rPr>
              <a:t>kidney-toxicity</a:t>
            </a:r>
            <a:r>
              <a:rPr sz="2200" b="0">
                <a:solidFill>
                  <a:srgbClr val="BFE0E8"/>
                </a:solidFill>
                <a:latin typeface="Arial"/>
              </a:rPr>
              <a:t> dataset for oligonucleotide therapeutics</a:t>
            </a:r>
          </a:p>
        </p:txBody>
      </p:sp>
      <p:sp>
        <p:nvSpPr>
          <p:cNvPr id="6" name="Rectangle 5"/>
          <p:cNvSpPr/>
          <p:nvPr/>
        </p:nvSpPr>
        <p:spPr>
          <a:xfrm>
            <a:off x="841248" y="4343400"/>
            <a:ext cx="914400" cy="6400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663440"/>
            <a:ext cx="10515600" cy="731520"/>
          </a:xfrm>
          <a:prstGeom prst="rect">
            <a:avLst/>
          </a:prstGeom>
          <a:noFill/>
        </p:spPr>
        <p:txBody>
          <a:bodyPr wrap="square" anchor="t" lIns="0" rIns="0" tIns="0" bIns="0">
            <a:spAutoFit/>
          </a:bodyPr>
          <a:lstStyle/>
          <a:p>
            <a:pPr algn="l">
              <a:lnSpc>
                <a:spcPct val="130000"/>
              </a:lnSpc>
            </a:pPr>
            <a:r>
              <a:rPr sz="1500" b="0">
                <a:solidFill>
                  <a:srgbClr val="8FB6C4"/>
                </a:solidFill>
                <a:latin typeface="Arial"/>
              </a:rPr>
              <a:t>65 oligos · 111 measurements · 35 target genes · 100% kidney-specific</a:t>
            </a:r>
          </a:p>
          <a:p>
            <a:pPr algn="l">
              <a:lnSpc>
                <a:spcPct val="130000"/>
              </a:lnSpc>
            </a:pPr>
            <a:r>
              <a:rPr sz="1500" b="0">
                <a:solidFill>
                  <a:srgbClr val="8FB6C4"/>
                </a:solidFill>
                <a:latin typeface="Arial"/>
              </a:rPr>
              <a:t>Phase 2 · Data Generation · prepared for biochemistry-expert review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9144000" cy="274320"/>
          </a:xfrm>
          <a:prstGeom prst="rect">
            <a:avLst/>
          </a:prstGeom>
          <a:noFill/>
        </p:spPr>
        <p:txBody>
          <a:bodyPr wrap="square" anchor="t" lIns="0" rIns="0" tIns="0" bIns="0">
            <a:spAutoFit/>
          </a:bodyPr>
          <a:lstStyle/>
          <a:p>
            <a:pPr algn="l">
              <a:lnSpc>
                <a:spcPct val="108000"/>
              </a:lnSpc>
            </a:pPr>
            <a:r>
              <a:rPr sz="1200" b="1">
                <a:solidFill>
                  <a:srgbClr val="17A2B8"/>
                </a:solidFill>
                <a:latin typeface="Arial"/>
              </a:rPr>
              <a:t>THE IDEA IN ONE SENTENCE</a:t>
            </a:r>
          </a:p>
        </p:txBody>
      </p:sp>
      <p:sp>
        <p:nvSpPr>
          <p:cNvPr id="3" name="TextBox 2"/>
          <p:cNvSpPr txBox="1"/>
          <p:nvPr/>
        </p:nvSpPr>
        <p:spPr>
          <a:xfrm>
            <a:off x="822960" y="2514600"/>
            <a:ext cx="10515600" cy="2743200"/>
          </a:xfrm>
          <a:prstGeom prst="rect">
            <a:avLst/>
          </a:prstGeom>
          <a:noFill/>
        </p:spPr>
        <p:txBody>
          <a:bodyPr wrap="square" anchor="t" lIns="0" rIns="0" tIns="0" bIns="0">
            <a:spAutoFit/>
          </a:bodyPr>
          <a:lstStyle/>
          <a:p>
            <a:pPr algn="l">
              <a:lnSpc>
                <a:spcPct val="130000"/>
              </a:lnSpc>
            </a:pPr>
            <a:r>
              <a:rPr sz="3200" b="0">
                <a:solidFill>
                  <a:srgbClr val="14202B"/>
                </a:solidFill>
                <a:latin typeface="Arial"/>
              </a:rPr>
              <a:t>Oligonucleotide drugs can injure the kidney in a way the </a:t>
            </a:r>
            <a:r>
              <a:rPr sz="3200" b="1">
                <a:solidFill>
                  <a:srgbClr val="0E4D64"/>
                </a:solidFill>
                <a:latin typeface="Arial"/>
              </a:rPr>
              <a:t>standard safety test misses</a:t>
            </a:r>
            <a:r>
              <a:rPr sz="3200" b="0">
                <a:solidFill>
                  <a:srgbClr val="14202B"/>
                </a:solidFill>
                <a:latin typeface="Arial"/>
              </a:rPr>
              <a:t> — so we built a dataset that captures the </a:t>
            </a:r>
            <a:r>
              <a:rPr sz="3200" b="1">
                <a:solidFill>
                  <a:srgbClr val="0E4D64"/>
                </a:solidFill>
                <a:latin typeface="Arial"/>
              </a:rPr>
              <a:t>right</a:t>
            </a:r>
            <a:r>
              <a:rPr sz="3200" b="0">
                <a:solidFill>
                  <a:srgbClr val="14202B"/>
                </a:solidFill>
                <a:latin typeface="Arial"/>
              </a:rPr>
              <a:t> signal, one experiment per row, every value traceable to its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Why this matters</a:t>
            </a:r>
          </a:p>
        </p:txBody>
      </p:sp>
      <p:sp>
        <p:nvSpPr>
          <p:cNvPr id="4" name="TextBox 3"/>
          <p:cNvSpPr txBox="1"/>
          <p:nvPr/>
        </p:nvSpPr>
        <p:spPr>
          <a:xfrm>
            <a:off x="731520" y="1554480"/>
            <a:ext cx="5669280" cy="4114800"/>
          </a:xfrm>
          <a:prstGeom prst="rect">
            <a:avLst/>
          </a:prstGeom>
          <a:noFill/>
        </p:spPr>
        <p:txBody>
          <a:bodyPr wrap="square" anchor="t" lIns="0" rIns="0" tIns="0" bIns="0">
            <a:spAutoFit/>
          </a:bodyPr>
          <a:lstStyle/>
          <a:p>
            <a:pPr algn="l">
              <a:lnSpc>
                <a:spcPct val="120000"/>
              </a:lnSpc>
            </a:pPr>
            <a:r>
              <a:rPr sz="1800" b="1">
                <a:solidFill>
                  <a:srgbClr val="0E4D64"/>
                </a:solidFill>
                <a:latin typeface="Arial"/>
              </a:rPr>
              <a:t>Oligonucleotides are a booming drug class</a:t>
            </a:r>
            <a:r>
              <a:rPr sz="1800" b="0">
                <a:solidFill>
                  <a:srgbClr val="14202B"/>
                </a:solidFill>
                <a:latin typeface="Arial"/>
              </a:rPr>
              <a:t> — ~19 approved, dozens in trials, treating diseases nothing else could.</a:t>
            </a:r>
          </a:p>
          <a:p>
            <a:pPr algn="l">
              <a:lnSpc>
                <a:spcPct val="120000"/>
              </a:lnSpc>
            </a:pPr>
          </a:p>
          <a:p>
            <a:pPr algn="l">
              <a:lnSpc>
                <a:spcPct val="120000"/>
              </a:lnSpc>
            </a:pPr>
            <a:r>
              <a:rPr sz="1800" b="1">
                <a:solidFill>
                  <a:srgbClr val="0E4D64"/>
                </a:solidFill>
                <a:latin typeface="Arial"/>
              </a:rPr>
              <a:t>But the kidney is a common casualty.</a:t>
            </a:r>
            <a:r>
              <a:rPr sz="1800" b="0">
                <a:solidFill>
                  <a:srgbClr val="14202B"/>
                </a:solidFill>
                <a:latin typeface="Arial"/>
              </a:rPr>
              <a:t> It filters and concentrates these drugs, so it sees high levels — several oligos have caused proteinuria, kidney injury, even failure.</a:t>
            </a:r>
          </a:p>
          <a:p>
            <a:pPr algn="l">
              <a:lnSpc>
                <a:spcPct val="120000"/>
              </a:lnSpc>
            </a:pPr>
          </a:p>
          <a:p>
            <a:pPr algn="l">
              <a:lnSpc>
                <a:spcPct val="120000"/>
              </a:lnSpc>
            </a:pPr>
            <a:r>
              <a:rPr sz="1800" b="1">
                <a:solidFill>
                  <a:srgbClr val="0E4D64"/>
                </a:solidFill>
                <a:latin typeface="Arial"/>
              </a:rPr>
              <a:t>The catch:</a:t>
            </a:r>
            <a:r>
              <a:rPr sz="1800" b="0">
                <a:solidFill>
                  <a:srgbClr val="14202B"/>
                </a:solidFill>
                <a:latin typeface="Arial"/>
              </a:rPr>
              <a:t> the damage is often invisible to routine cell-survival screening.</a:t>
            </a:r>
          </a:p>
        </p:txBody>
      </p:sp>
      <p:sp>
        <p:nvSpPr>
          <p:cNvPr id="5" name="Rounded Rectangle 4"/>
          <p:cNvSpPr/>
          <p:nvPr/>
        </p:nvSpPr>
        <p:spPr>
          <a:xfrm>
            <a:off x="6766560" y="1554480"/>
            <a:ext cx="4663440" cy="310896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766560" y="1554480"/>
            <a:ext cx="82296" cy="31089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783080"/>
            <a:ext cx="4206240" cy="2743200"/>
          </a:xfrm>
          <a:prstGeom prst="rect">
            <a:avLst/>
          </a:prstGeom>
          <a:noFill/>
        </p:spPr>
        <p:txBody>
          <a:bodyPr wrap="square" anchor="t" lIns="0" rIns="0" tIns="0" bIns="0">
            <a:spAutoFit/>
          </a:bodyPr>
          <a:lstStyle/>
          <a:p>
            <a:pPr algn="l">
              <a:lnSpc>
                <a:spcPct val="118000"/>
              </a:lnSpc>
            </a:pPr>
            <a:r>
              <a:rPr sz="1600" b="1">
                <a:solidFill>
                  <a:srgbClr val="0E4D64"/>
                </a:solidFill>
                <a:latin typeface="Arial"/>
              </a:rPr>
              <a:t>The gap Phase 2 targets</a:t>
            </a:r>
          </a:p>
          <a:p>
            <a:pPr algn="l">
              <a:lnSpc>
                <a:spcPct val="118000"/>
              </a:lnSpc>
            </a:pPr>
            <a:r>
              <a:rPr sz="1600" b="0">
                <a:solidFill>
                  <a:srgbClr val="14202B"/>
                </a:solidFill>
                <a:latin typeface="Arial"/>
              </a:rPr>
              <a:t>Most public oligo-tox data is hepatic; kidney data is thin. No open dataset pairs each oligo's design (sequence + chemistry) with a graded kidney outcome — exactly what an in-silico model needs to predict risk early. That is what we assembled.</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9144000" cy="274320"/>
          </a:xfrm>
          <a:prstGeom prst="rect">
            <a:avLst/>
          </a:prstGeom>
          <a:noFill/>
        </p:spPr>
        <p:txBody>
          <a:bodyPr wrap="square" anchor="t" lIns="0" rIns="0" tIns="0" bIns="0">
            <a:spAutoFit/>
          </a:bodyPr>
          <a:lstStyle/>
          <a:p>
            <a:pPr algn="l">
              <a:lnSpc>
                <a:spcPct val="108000"/>
              </a:lnSpc>
            </a:pPr>
            <a:r>
              <a:rPr sz="1200" b="1">
                <a:solidFill>
                  <a:srgbClr val="7FD3E0"/>
                </a:solidFill>
                <a:latin typeface="Arial"/>
              </a:rPr>
              <a:t>PART 1</a:t>
            </a:r>
          </a:p>
        </p:txBody>
      </p:sp>
      <p:sp>
        <p:nvSpPr>
          <p:cNvPr id="4" name="Rectangle 3"/>
          <p:cNvSpPr/>
          <p:nvPr/>
        </p:nvSpPr>
        <p:spPr>
          <a:xfrm>
            <a:off x="822960" y="3063240"/>
            <a:ext cx="109728"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17520"/>
            <a:ext cx="10058400" cy="822960"/>
          </a:xfrm>
          <a:prstGeom prst="rect">
            <a:avLst/>
          </a:prstGeom>
          <a:noFill/>
        </p:spPr>
        <p:txBody>
          <a:bodyPr wrap="square" anchor="t" lIns="0" rIns="0" tIns="0" bIns="0">
            <a:spAutoFit/>
          </a:bodyPr>
          <a:lstStyle/>
          <a:p>
            <a:pPr algn="l">
              <a:lnSpc>
                <a:spcPct val="108000"/>
              </a:lnSpc>
            </a:pPr>
            <a:r>
              <a:rPr sz="4000" b="1">
                <a:solidFill>
                  <a:srgbClr val="FFFFFF"/>
                </a:solidFill>
                <a:latin typeface="Arial"/>
              </a:rPr>
              <a:t>The science: a quiet kind of kidney injury</a:t>
            </a:r>
          </a:p>
        </p:txBody>
      </p:sp>
      <p:sp>
        <p:nvSpPr>
          <p:cNvPr id="6" name="TextBox 5"/>
          <p:cNvSpPr txBox="1"/>
          <p:nvPr/>
        </p:nvSpPr>
        <p:spPr>
          <a:xfrm>
            <a:off x="1051560" y="3977639"/>
            <a:ext cx="10058400" cy="457200"/>
          </a:xfrm>
          <a:prstGeom prst="rect">
            <a:avLst/>
          </a:prstGeom>
          <a:noFill/>
        </p:spPr>
        <p:txBody>
          <a:bodyPr wrap="square" anchor="t" lIns="0" rIns="0" tIns="0" bIns="0">
            <a:spAutoFit/>
          </a:bodyPr>
          <a:lstStyle/>
          <a:p>
            <a:pPr algn="l">
              <a:lnSpc>
                <a:spcPct val="108000"/>
              </a:lnSpc>
            </a:pPr>
            <a:r>
              <a:rPr sz="2000" b="0">
                <a:solidFill>
                  <a:srgbClr val="CFE6EC"/>
                </a:solidFill>
                <a:latin typeface="Arial"/>
              </a:rPr>
              <a:t>Why a cell-survival test gives these drugs a false 'all-clear'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How these drugs injure the kidney</a:t>
            </a:r>
          </a:p>
        </p:txBody>
      </p:sp>
      <p:pic>
        <p:nvPicPr>
          <p:cNvPr id="4" name="Picture 3" descr="mechanism.png"/>
          <p:cNvPicPr>
            <a:picLocks noChangeAspect="1"/>
          </p:cNvPicPr>
          <p:nvPr/>
        </p:nvPicPr>
        <p:blipFill>
          <a:blip r:embed="rId2"/>
          <a:stretch>
            <a:fillRect/>
          </a:stretch>
        </p:blipFill>
        <p:spPr>
          <a:xfrm>
            <a:off x="1158087" y="1417320"/>
            <a:ext cx="9875520" cy="4144191"/>
          </a:xfrm>
          <a:prstGeom prst="rect">
            <a:avLst/>
          </a:prstGeom>
        </p:spPr>
      </p:pic>
      <p:sp>
        <p:nvSpPr>
          <p:cNvPr id="5" name="Rounded Rectangle 4"/>
          <p:cNvSpPr/>
          <p:nvPr/>
        </p:nvSpPr>
        <p:spPr>
          <a:xfrm>
            <a:off x="731520" y="5698671"/>
            <a:ext cx="10725912" cy="68580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698671"/>
            <a:ext cx="82296"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808399"/>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PS-ASOs are filtered, vacuumed into proximal-tubule cells by megalin/cubilin, and stored in lysosomes. Small-protein reabsorption fails → proteinuria — yet the cell stays alive.</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The trap: one drug, two tests, opposite answers</a:t>
            </a:r>
          </a:p>
        </p:txBody>
      </p:sp>
      <p:pic>
        <p:nvPicPr>
          <p:cNvPr id="4" name="Picture 3" descr="trap.png"/>
          <p:cNvPicPr>
            <a:picLocks noChangeAspect="1"/>
          </p:cNvPicPr>
          <p:nvPr/>
        </p:nvPicPr>
        <p:blipFill>
          <a:blip r:embed="rId2"/>
          <a:stretch>
            <a:fillRect/>
          </a:stretch>
        </p:blipFill>
        <p:spPr>
          <a:xfrm>
            <a:off x="1158087" y="1417320"/>
            <a:ext cx="9875520" cy="3860430"/>
          </a:xfrm>
          <a:prstGeom prst="rect">
            <a:avLst/>
          </a:prstGeom>
        </p:spPr>
      </p:pic>
      <p:sp>
        <p:nvSpPr>
          <p:cNvPr id="5" name="Rounded Rectangle 4"/>
          <p:cNvSpPr/>
          <p:nvPr/>
        </p:nvSpPr>
        <p:spPr>
          <a:xfrm>
            <a:off x="731520" y="5414910"/>
            <a:ext cx="10725912" cy="685800"/>
          </a:xfrm>
          <a:prstGeom prst="roundRect">
            <a:avLst/>
          </a:prstGeom>
          <a:solidFill>
            <a:srgbClr val="FB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414910"/>
            <a:ext cx="82296" cy="685800"/>
          </a:xfrm>
          <a:prstGeom prst="rect">
            <a:avLst/>
          </a:prstGeom>
          <a:solidFill>
            <a:srgbClr val="E87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524638"/>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A viability/MTT screen asks only 'are the cells alive?' — and these drugs don't kill cells. So routine screening calls them clean. Our schema captures the functional signal it misses.</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So we record the right readouts</a:t>
            </a:r>
          </a:p>
        </p:txBody>
      </p:sp>
      <p:sp>
        <p:nvSpPr>
          <p:cNvPr id="4" name="TextBox 3"/>
          <p:cNvSpPr txBox="1"/>
          <p:nvPr/>
        </p:nvSpPr>
        <p:spPr>
          <a:xfrm>
            <a:off x="731520" y="1170432"/>
            <a:ext cx="10698480" cy="365760"/>
          </a:xfrm>
          <a:prstGeom prst="rect">
            <a:avLst/>
          </a:prstGeom>
          <a:noFill/>
        </p:spPr>
        <p:txBody>
          <a:bodyPr wrap="square" anchor="t" lIns="0" rIns="0" tIns="0" bIns="0">
            <a:spAutoFit/>
          </a:bodyPr>
          <a:lstStyle/>
          <a:p>
            <a:pPr algn="l">
              <a:lnSpc>
                <a:spcPct val="108000"/>
              </a:lnSpc>
            </a:pPr>
            <a:r>
              <a:rPr sz="1600" b="0">
                <a:solidFill>
                  <a:srgbClr val="14202B"/>
                </a:solidFill>
                <a:latin typeface="Arial"/>
              </a:rPr>
              <a:t>We weight the data toward function and injury markers, not cell survival:</a:t>
            </a:r>
          </a:p>
        </p:txBody>
      </p:sp>
      <p:sp>
        <p:nvSpPr>
          <p:cNvPr id="5" name="TextBox 4"/>
          <p:cNvSpPr txBox="1"/>
          <p:nvPr/>
        </p:nvSpPr>
        <p:spPr>
          <a:xfrm>
            <a:off x="365760" y="1719072"/>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functional</a:t>
            </a:r>
          </a:p>
        </p:txBody>
      </p:sp>
      <p:sp>
        <p:nvSpPr>
          <p:cNvPr id="6" name="Rounded Rectangle 5"/>
          <p:cNvSpPr/>
          <p:nvPr/>
        </p:nvSpPr>
        <p:spPr>
          <a:xfrm>
            <a:off x="2880360" y="1737360"/>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80360" y="1737360"/>
            <a:ext cx="731520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05288" y="1719072"/>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35</a:t>
            </a:r>
          </a:p>
        </p:txBody>
      </p:sp>
      <p:sp>
        <p:nvSpPr>
          <p:cNvPr id="9" name="TextBox 8"/>
          <p:cNvSpPr txBox="1"/>
          <p:nvPr/>
        </p:nvSpPr>
        <p:spPr>
          <a:xfrm>
            <a:off x="365760" y="2157984"/>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clinical renal outcome</a:t>
            </a:r>
          </a:p>
        </p:txBody>
      </p:sp>
      <p:sp>
        <p:nvSpPr>
          <p:cNvPr id="10" name="Rounded Rectangle 9"/>
          <p:cNvSpPr/>
          <p:nvPr/>
        </p:nvSpPr>
        <p:spPr>
          <a:xfrm>
            <a:off x="2880360" y="2176272"/>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80360" y="2176272"/>
            <a:ext cx="5643154"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05288" y="2157984"/>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27</a:t>
            </a:r>
          </a:p>
        </p:txBody>
      </p:sp>
      <p:sp>
        <p:nvSpPr>
          <p:cNvPr id="13" name="TextBox 12"/>
          <p:cNvSpPr txBox="1"/>
          <p:nvPr/>
        </p:nvSpPr>
        <p:spPr>
          <a:xfrm>
            <a:off x="365760" y="2596896"/>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histopathology</a:t>
            </a:r>
          </a:p>
        </p:txBody>
      </p:sp>
      <p:sp>
        <p:nvSpPr>
          <p:cNvPr id="14" name="Rounded Rectangle 13"/>
          <p:cNvSpPr/>
          <p:nvPr/>
        </p:nvSpPr>
        <p:spPr>
          <a:xfrm>
            <a:off x="2880360" y="2615184"/>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80360" y="2615184"/>
            <a:ext cx="5016137"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05288" y="2596896"/>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24</a:t>
            </a:r>
          </a:p>
        </p:txBody>
      </p:sp>
      <p:sp>
        <p:nvSpPr>
          <p:cNvPr id="17" name="TextBox 16"/>
          <p:cNvSpPr txBox="1"/>
          <p:nvPr/>
        </p:nvSpPr>
        <p:spPr>
          <a:xfrm>
            <a:off x="365760" y="3035808"/>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injury biomarker</a:t>
            </a:r>
          </a:p>
        </p:txBody>
      </p:sp>
      <p:sp>
        <p:nvSpPr>
          <p:cNvPr id="18" name="Rounded Rectangle 17"/>
          <p:cNvSpPr/>
          <p:nvPr/>
        </p:nvSpPr>
        <p:spPr>
          <a:xfrm>
            <a:off x="2880360" y="3054096"/>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880360" y="3054096"/>
            <a:ext cx="3344091"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05288" y="3035808"/>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16</a:t>
            </a:r>
          </a:p>
        </p:txBody>
      </p:sp>
      <p:sp>
        <p:nvSpPr>
          <p:cNvPr id="21" name="TextBox 20"/>
          <p:cNvSpPr txBox="1"/>
          <p:nvPr/>
        </p:nvSpPr>
        <p:spPr>
          <a:xfrm>
            <a:off x="365760" y="3474720"/>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viability (contrast only)</a:t>
            </a:r>
          </a:p>
        </p:txBody>
      </p:sp>
      <p:sp>
        <p:nvSpPr>
          <p:cNvPr id="22" name="Rounded Rectangle 21"/>
          <p:cNvSpPr/>
          <p:nvPr/>
        </p:nvSpPr>
        <p:spPr>
          <a:xfrm>
            <a:off x="2880360" y="3493008"/>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880360" y="3493008"/>
            <a:ext cx="1463040" cy="310896"/>
          </a:xfrm>
          <a:prstGeom prst="roundRect">
            <a:avLst/>
          </a:prstGeom>
          <a:solidFill>
            <a:srgbClr val="9FB4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05288" y="3474720"/>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7</a:t>
            </a:r>
          </a:p>
        </p:txBody>
      </p:sp>
      <p:sp>
        <p:nvSpPr>
          <p:cNvPr id="25" name="TextBox 24"/>
          <p:cNvSpPr txBox="1"/>
          <p:nvPr/>
        </p:nvSpPr>
        <p:spPr>
          <a:xfrm>
            <a:off x="365760" y="3913632"/>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accumulation</a:t>
            </a:r>
          </a:p>
        </p:txBody>
      </p:sp>
      <p:sp>
        <p:nvSpPr>
          <p:cNvPr id="26" name="Rounded Rectangle 25"/>
          <p:cNvSpPr/>
          <p:nvPr/>
        </p:nvSpPr>
        <p:spPr>
          <a:xfrm>
            <a:off x="2880360" y="3931920"/>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880360" y="3931920"/>
            <a:ext cx="418011" cy="310896"/>
          </a:xfrm>
          <a:prstGeom prst="roundRect">
            <a:avLst/>
          </a:prstGeom>
          <a:solidFill>
            <a:srgbClr val="9FB4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05288" y="3913632"/>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2</a:t>
            </a:r>
          </a:p>
        </p:txBody>
      </p:sp>
      <p:sp>
        <p:nvSpPr>
          <p:cNvPr id="29" name="Rounded Rectangle 28"/>
          <p:cNvSpPr/>
          <p:nvPr/>
        </p:nvSpPr>
        <p:spPr>
          <a:xfrm>
            <a:off x="731520" y="4507992"/>
            <a:ext cx="10725912" cy="82296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4507992"/>
            <a:ext cx="82296" cy="8229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636008"/>
            <a:ext cx="10241280" cy="594360"/>
          </a:xfrm>
          <a:prstGeom prst="rect">
            <a:avLst/>
          </a:prstGeom>
          <a:noFill/>
        </p:spPr>
        <p:txBody>
          <a:bodyPr wrap="square" anchor="t" lIns="0" rIns="0" tIns="0" bIns="0">
            <a:spAutoFit/>
          </a:bodyPr>
          <a:lstStyle/>
          <a:p>
            <a:pPr algn="l">
              <a:lnSpc>
                <a:spcPct val="112000"/>
              </a:lnSpc>
            </a:pPr>
            <a:r>
              <a:rPr sz="1500" b="0">
                <a:solidFill>
                  <a:srgbClr val="14202B"/>
                </a:solidFill>
                <a:latin typeface="Arial"/>
              </a:rPr>
              <a:t>'Readout' = one measured thing. Biomarkers (KIM-1, NGAL, clusterin, cystatin C) rise when the kidney is stressed. Functional + biomarker rows (51) dwarf viability rows (7) — by design.</a:t>
            </a:r>
          </a:p>
        </p:txBody>
      </p:sp>
      <p:sp>
        <p:nvSpPr>
          <p:cNvPr id="32" name="TextBox 31"/>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33" name="TextBox 32"/>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9144000" cy="274320"/>
          </a:xfrm>
          <a:prstGeom prst="rect">
            <a:avLst/>
          </a:prstGeom>
          <a:noFill/>
        </p:spPr>
        <p:txBody>
          <a:bodyPr wrap="square" anchor="t" lIns="0" rIns="0" tIns="0" bIns="0">
            <a:spAutoFit/>
          </a:bodyPr>
          <a:lstStyle/>
          <a:p>
            <a:pPr algn="l">
              <a:lnSpc>
                <a:spcPct val="108000"/>
              </a:lnSpc>
            </a:pPr>
            <a:r>
              <a:rPr sz="1200" b="1">
                <a:solidFill>
                  <a:srgbClr val="7FD3E0"/>
                </a:solidFill>
                <a:latin typeface="Arial"/>
              </a:rPr>
              <a:t>PART 2</a:t>
            </a:r>
          </a:p>
        </p:txBody>
      </p:sp>
      <p:sp>
        <p:nvSpPr>
          <p:cNvPr id="4" name="Rectangle 3"/>
          <p:cNvSpPr/>
          <p:nvPr/>
        </p:nvSpPr>
        <p:spPr>
          <a:xfrm>
            <a:off x="822960" y="3063240"/>
            <a:ext cx="109728"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17520"/>
            <a:ext cx="10058400" cy="822960"/>
          </a:xfrm>
          <a:prstGeom prst="rect">
            <a:avLst/>
          </a:prstGeom>
          <a:noFill/>
        </p:spPr>
        <p:txBody>
          <a:bodyPr wrap="square" anchor="t" lIns="0" rIns="0" tIns="0" bIns="0">
            <a:spAutoFit/>
          </a:bodyPr>
          <a:lstStyle/>
          <a:p>
            <a:pPr algn="l">
              <a:lnSpc>
                <a:spcPct val="108000"/>
              </a:lnSpc>
            </a:pPr>
            <a:r>
              <a:rPr sz="4000" b="1">
                <a:solidFill>
                  <a:srgbClr val="FFFFFF"/>
                </a:solidFill>
                <a:latin typeface="Arial"/>
              </a:rPr>
              <a:t>What we built</a:t>
            </a:r>
          </a:p>
        </p:txBody>
      </p:sp>
      <p:sp>
        <p:nvSpPr>
          <p:cNvPr id="6" name="TextBox 5"/>
          <p:cNvSpPr txBox="1"/>
          <p:nvPr/>
        </p:nvSpPr>
        <p:spPr>
          <a:xfrm>
            <a:off x="1051560" y="3977639"/>
            <a:ext cx="10058400" cy="457200"/>
          </a:xfrm>
          <a:prstGeom prst="rect">
            <a:avLst/>
          </a:prstGeom>
          <a:noFill/>
        </p:spPr>
        <p:txBody>
          <a:bodyPr wrap="square" anchor="t" lIns="0" rIns="0" tIns="0" bIns="0">
            <a:spAutoFit/>
          </a:bodyPr>
          <a:lstStyle/>
          <a:p>
            <a:pPr algn="l">
              <a:lnSpc>
                <a:spcPct val="108000"/>
              </a:lnSpc>
            </a:pPr>
            <a:r>
              <a:rPr sz="2000" b="0">
                <a:solidFill>
                  <a:srgbClr val="CFE6EC"/>
                </a:solidFill>
                <a:latin typeface="Arial"/>
              </a:rPr>
              <a:t>The dataset, its structure, and how toxicity is scored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The dataset at a glance</a:t>
            </a:r>
          </a:p>
        </p:txBody>
      </p:sp>
      <p:sp>
        <p:nvSpPr>
          <p:cNvPr id="4" name="Rounded Rectangle 3"/>
          <p:cNvSpPr/>
          <p:nvPr/>
        </p:nvSpPr>
        <p:spPr>
          <a:xfrm>
            <a:off x="731520" y="1554480"/>
            <a:ext cx="2606040"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2606040" cy="82296"/>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19"/>
            <a:ext cx="2606040" cy="822960"/>
          </a:xfrm>
          <a:prstGeom prst="rect">
            <a:avLst/>
          </a:prstGeom>
          <a:noFill/>
        </p:spPr>
        <p:txBody>
          <a:bodyPr wrap="square" anchor="t" lIns="0" rIns="0" tIns="0" bIns="0">
            <a:spAutoFit/>
          </a:bodyPr>
          <a:lstStyle/>
          <a:p>
            <a:pPr algn="ctr">
              <a:lnSpc>
                <a:spcPct val="108000"/>
              </a:lnSpc>
            </a:pPr>
            <a:r>
              <a:rPr sz="4800" b="1">
                <a:solidFill>
                  <a:srgbClr val="0E4D64"/>
                </a:solidFill>
                <a:latin typeface="Arial"/>
              </a:rPr>
              <a:t>65</a:t>
            </a:r>
          </a:p>
        </p:txBody>
      </p:sp>
      <p:sp>
        <p:nvSpPr>
          <p:cNvPr id="7" name="TextBox 6"/>
          <p:cNvSpPr txBox="1"/>
          <p:nvPr/>
        </p:nvSpPr>
        <p:spPr>
          <a:xfrm>
            <a:off x="868680" y="2724912"/>
            <a:ext cx="2331720" cy="502920"/>
          </a:xfrm>
          <a:prstGeom prst="rect">
            <a:avLst/>
          </a:prstGeom>
          <a:noFill/>
        </p:spPr>
        <p:txBody>
          <a:bodyPr wrap="square" anchor="t" lIns="0" rIns="0" tIns="0" bIns="0">
            <a:spAutoFit/>
          </a:bodyPr>
          <a:lstStyle/>
          <a:p>
            <a:pPr algn="ctr">
              <a:lnSpc>
                <a:spcPct val="105000"/>
              </a:lnSpc>
            </a:pPr>
            <a:r>
              <a:rPr sz="1300" b="0">
                <a:solidFill>
                  <a:srgbClr val="5A6B78"/>
                </a:solidFill>
                <a:latin typeface="Arial"/>
              </a:rPr>
              <a:t>unique oligos (7 families)</a:t>
            </a:r>
          </a:p>
        </p:txBody>
      </p:sp>
      <p:sp>
        <p:nvSpPr>
          <p:cNvPr id="8" name="Rounded Rectangle 7"/>
          <p:cNvSpPr/>
          <p:nvPr/>
        </p:nvSpPr>
        <p:spPr>
          <a:xfrm>
            <a:off x="3538728" y="1554480"/>
            <a:ext cx="2606040"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38728" y="1554480"/>
            <a:ext cx="2606040" cy="82296"/>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1874519"/>
            <a:ext cx="2606040" cy="822960"/>
          </a:xfrm>
          <a:prstGeom prst="rect">
            <a:avLst/>
          </a:prstGeom>
          <a:noFill/>
        </p:spPr>
        <p:txBody>
          <a:bodyPr wrap="square" anchor="t" lIns="0" rIns="0" tIns="0" bIns="0">
            <a:spAutoFit/>
          </a:bodyPr>
          <a:lstStyle/>
          <a:p>
            <a:pPr algn="ctr">
              <a:lnSpc>
                <a:spcPct val="108000"/>
              </a:lnSpc>
            </a:pPr>
            <a:r>
              <a:rPr sz="4800" b="1">
                <a:solidFill>
                  <a:srgbClr val="0E4D64"/>
                </a:solidFill>
                <a:latin typeface="Arial"/>
              </a:rPr>
              <a:t>111</a:t>
            </a:r>
          </a:p>
        </p:txBody>
      </p:sp>
      <p:sp>
        <p:nvSpPr>
          <p:cNvPr id="11" name="TextBox 10"/>
          <p:cNvSpPr txBox="1"/>
          <p:nvPr/>
        </p:nvSpPr>
        <p:spPr>
          <a:xfrm>
            <a:off x="3675888" y="2724912"/>
            <a:ext cx="2331720" cy="502920"/>
          </a:xfrm>
          <a:prstGeom prst="rect">
            <a:avLst/>
          </a:prstGeom>
          <a:noFill/>
        </p:spPr>
        <p:txBody>
          <a:bodyPr wrap="square" anchor="t" lIns="0" rIns="0" tIns="0" bIns="0">
            <a:spAutoFit/>
          </a:bodyPr>
          <a:lstStyle/>
          <a:p>
            <a:pPr algn="ctr">
              <a:lnSpc>
                <a:spcPct val="105000"/>
              </a:lnSpc>
            </a:pPr>
            <a:r>
              <a:rPr sz="1300" b="0">
                <a:solidFill>
                  <a:srgbClr val="5A6B78"/>
                </a:solidFill>
                <a:latin typeface="Arial"/>
              </a:rPr>
              <a:t>graded measurements (≥100 target)</a:t>
            </a:r>
          </a:p>
        </p:txBody>
      </p:sp>
      <p:sp>
        <p:nvSpPr>
          <p:cNvPr id="12" name="Rounded Rectangle 11"/>
          <p:cNvSpPr/>
          <p:nvPr/>
        </p:nvSpPr>
        <p:spPr>
          <a:xfrm>
            <a:off x="6345936" y="1554480"/>
            <a:ext cx="2606040"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45936" y="1554480"/>
            <a:ext cx="2606040" cy="82296"/>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874519"/>
            <a:ext cx="2606040" cy="822960"/>
          </a:xfrm>
          <a:prstGeom prst="rect">
            <a:avLst/>
          </a:prstGeom>
          <a:noFill/>
        </p:spPr>
        <p:txBody>
          <a:bodyPr wrap="square" anchor="t" lIns="0" rIns="0" tIns="0" bIns="0">
            <a:spAutoFit/>
          </a:bodyPr>
          <a:lstStyle/>
          <a:p>
            <a:pPr algn="ctr">
              <a:lnSpc>
                <a:spcPct val="108000"/>
              </a:lnSpc>
            </a:pPr>
            <a:r>
              <a:rPr sz="4800" b="1">
                <a:solidFill>
                  <a:srgbClr val="0E4D64"/>
                </a:solidFill>
                <a:latin typeface="Arial"/>
              </a:rPr>
              <a:t>100%</a:t>
            </a:r>
          </a:p>
        </p:txBody>
      </p:sp>
      <p:sp>
        <p:nvSpPr>
          <p:cNvPr id="15" name="TextBox 14"/>
          <p:cNvSpPr txBox="1"/>
          <p:nvPr/>
        </p:nvSpPr>
        <p:spPr>
          <a:xfrm>
            <a:off x="6483096" y="2724912"/>
            <a:ext cx="2331720" cy="502920"/>
          </a:xfrm>
          <a:prstGeom prst="rect">
            <a:avLst/>
          </a:prstGeom>
          <a:noFill/>
        </p:spPr>
        <p:txBody>
          <a:bodyPr wrap="square" anchor="t" lIns="0" rIns="0" tIns="0" bIns="0">
            <a:spAutoFit/>
          </a:bodyPr>
          <a:lstStyle/>
          <a:p>
            <a:pPr algn="ctr">
              <a:lnSpc>
                <a:spcPct val="105000"/>
              </a:lnSpc>
            </a:pPr>
            <a:r>
              <a:rPr sz="1300" b="0">
                <a:solidFill>
                  <a:srgbClr val="5A6B78"/>
                </a:solidFill>
                <a:latin typeface="Arial"/>
              </a:rPr>
              <a:t>kidney-specific (no padding)</a:t>
            </a:r>
          </a:p>
        </p:txBody>
      </p:sp>
      <p:sp>
        <p:nvSpPr>
          <p:cNvPr id="16" name="Rounded Rectangle 15"/>
          <p:cNvSpPr/>
          <p:nvPr/>
        </p:nvSpPr>
        <p:spPr>
          <a:xfrm>
            <a:off x="9153144" y="1554480"/>
            <a:ext cx="2606040"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53144" y="1554480"/>
            <a:ext cx="2606040" cy="82296"/>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53144" y="1874519"/>
            <a:ext cx="2606040" cy="822960"/>
          </a:xfrm>
          <a:prstGeom prst="rect">
            <a:avLst/>
          </a:prstGeom>
          <a:noFill/>
        </p:spPr>
        <p:txBody>
          <a:bodyPr wrap="square" anchor="t" lIns="0" rIns="0" tIns="0" bIns="0">
            <a:spAutoFit/>
          </a:bodyPr>
          <a:lstStyle/>
          <a:p>
            <a:pPr algn="ctr">
              <a:lnSpc>
                <a:spcPct val="108000"/>
              </a:lnSpc>
            </a:pPr>
            <a:r>
              <a:rPr sz="4800" b="1">
                <a:solidFill>
                  <a:srgbClr val="0E4D64"/>
                </a:solidFill>
                <a:latin typeface="Arial"/>
              </a:rPr>
              <a:t>16</a:t>
            </a:r>
          </a:p>
        </p:txBody>
      </p:sp>
      <p:sp>
        <p:nvSpPr>
          <p:cNvPr id="19" name="TextBox 18"/>
          <p:cNvSpPr txBox="1"/>
          <p:nvPr/>
        </p:nvSpPr>
        <p:spPr>
          <a:xfrm>
            <a:off x="9290304" y="2724912"/>
            <a:ext cx="2331720" cy="502920"/>
          </a:xfrm>
          <a:prstGeom prst="rect">
            <a:avLst/>
          </a:prstGeom>
          <a:noFill/>
        </p:spPr>
        <p:txBody>
          <a:bodyPr wrap="square" anchor="t" lIns="0" rIns="0" tIns="0" bIns="0">
            <a:spAutoFit/>
          </a:bodyPr>
          <a:lstStyle/>
          <a:p>
            <a:pPr algn="ctr">
              <a:lnSpc>
                <a:spcPct val="105000"/>
              </a:lnSpc>
            </a:pPr>
            <a:r>
              <a:rPr sz="1300" b="0">
                <a:solidFill>
                  <a:srgbClr val="5A6B78"/>
                </a:solidFill>
                <a:latin typeface="Arial"/>
              </a:rPr>
              <a:t>distinct sources, cited</a:t>
            </a:r>
          </a:p>
        </p:txBody>
      </p:sp>
      <p:sp>
        <p:nvSpPr>
          <p:cNvPr id="20" name="Rounded Rectangle 19"/>
          <p:cNvSpPr/>
          <p:nvPr/>
        </p:nvSpPr>
        <p:spPr>
          <a:xfrm>
            <a:off x="731520" y="3657600"/>
            <a:ext cx="5257800" cy="155448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657600"/>
            <a:ext cx="82296" cy="155448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840480"/>
            <a:ext cx="4846320" cy="1234440"/>
          </a:xfrm>
          <a:prstGeom prst="rect">
            <a:avLst/>
          </a:prstGeom>
          <a:noFill/>
        </p:spPr>
        <p:txBody>
          <a:bodyPr wrap="square" anchor="t" lIns="0" rIns="0" tIns="0" bIns="0">
            <a:spAutoFit/>
          </a:bodyPr>
          <a:lstStyle/>
          <a:p>
            <a:pPr algn="l">
              <a:lnSpc>
                <a:spcPct val="115000"/>
              </a:lnSpc>
            </a:pPr>
            <a:r>
              <a:rPr sz="1500" b="0">
                <a:solidFill>
                  <a:srgbClr val="14202B"/>
                </a:solidFill>
                <a:latin typeface="Arial"/>
              </a:rPr>
              <a:t>Spans every oligo modality, all three study types (dish / animal / human), and the full severity range — including deliberate negative controls.</a:t>
            </a:r>
          </a:p>
        </p:txBody>
      </p:sp>
      <p:sp>
        <p:nvSpPr>
          <p:cNvPr id="23" name="Rounded Rectangle 22"/>
          <p:cNvSpPr/>
          <p:nvPr/>
        </p:nvSpPr>
        <p:spPr>
          <a:xfrm>
            <a:off x="6172200" y="3657600"/>
            <a:ext cx="5285232" cy="1554480"/>
          </a:xfrm>
          <a:prstGeom prst="roundRect">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3657600"/>
            <a:ext cx="82296" cy="1554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840480"/>
            <a:ext cx="4846320" cy="1234440"/>
          </a:xfrm>
          <a:prstGeom prst="rect">
            <a:avLst/>
          </a:prstGeom>
          <a:noFill/>
        </p:spPr>
        <p:txBody>
          <a:bodyPr wrap="square" anchor="t" lIns="0" rIns="0" tIns="0" bIns="0">
            <a:spAutoFit/>
          </a:bodyPr>
          <a:lstStyle/>
          <a:p>
            <a:pPr algn="l">
              <a:lnSpc>
                <a:spcPct val="115000"/>
              </a:lnSpc>
            </a:pPr>
            <a:r>
              <a:rPr sz="1500" b="1">
                <a:solidFill>
                  <a:srgbClr val="0E4D64"/>
                </a:solidFill>
                <a:latin typeface="Arial"/>
              </a:rPr>
              <a:t>35</a:t>
            </a:r>
            <a:r>
              <a:rPr sz="1500" b="0">
                <a:solidFill>
                  <a:srgbClr val="14202B"/>
                </a:solidFill>
                <a:latin typeface="Arial"/>
              </a:rPr>
              <a:t> target genes · </a:t>
            </a:r>
            <a:r>
              <a:rPr sz="1500" b="1">
                <a:solidFill>
                  <a:srgbClr val="0E4D64"/>
                </a:solidFill>
                <a:latin typeface="Arial"/>
              </a:rPr>
              <a:t>33/65</a:t>
            </a:r>
            <a:r>
              <a:rPr sz="1500" b="0">
                <a:solidFill>
                  <a:srgbClr val="14202B"/>
                </a:solidFill>
                <a:latin typeface="Arial"/>
              </a:rPr>
              <a:t> sequences filled (rest 'TBD', never guessed) · every row carries its source.</a:t>
            </a:r>
          </a:p>
        </p:txBody>
      </p:sp>
      <p:sp>
        <p:nvSpPr>
          <p:cNvPr id="26" name="TextBox 25"/>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27" name="TextBox 26"/>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How the data is organised — two linked tables</a:t>
            </a:r>
          </a:p>
        </p:txBody>
      </p:sp>
      <p:pic>
        <p:nvPicPr>
          <p:cNvPr id="4" name="Picture 3" descr="datamodel.png"/>
          <p:cNvPicPr>
            <a:picLocks noChangeAspect="1"/>
          </p:cNvPicPr>
          <p:nvPr/>
        </p:nvPicPr>
        <p:blipFill>
          <a:blip r:embed="rId2"/>
          <a:stretch>
            <a:fillRect/>
          </a:stretch>
        </p:blipFill>
        <p:spPr>
          <a:xfrm>
            <a:off x="1158087" y="1417320"/>
            <a:ext cx="9875520" cy="4219540"/>
          </a:xfrm>
          <a:prstGeom prst="rect">
            <a:avLst/>
          </a:prstGeom>
        </p:spPr>
      </p:pic>
      <p:sp>
        <p:nvSpPr>
          <p:cNvPr id="5" name="Rounded Rectangle 4"/>
          <p:cNvSpPr/>
          <p:nvPr/>
        </p:nvSpPr>
        <p:spPr>
          <a:xfrm>
            <a:off x="731520" y="5774020"/>
            <a:ext cx="10725912" cy="68580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774020"/>
            <a:ext cx="82296"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883748"/>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One table describes each drug (the suspected causes); the other lists each result (the effects). They share oligo_id, so any result links back to its drug.</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The scoring system: a 0–3 severity grade</a:t>
            </a:r>
          </a:p>
        </p:txBody>
      </p:sp>
      <p:pic>
        <p:nvPicPr>
          <p:cNvPr id="4" name="Picture 3" descr="grade-ladder.png"/>
          <p:cNvPicPr>
            <a:picLocks noChangeAspect="1"/>
          </p:cNvPicPr>
          <p:nvPr/>
        </p:nvPicPr>
        <p:blipFill>
          <a:blip r:embed="rId2"/>
          <a:stretch>
            <a:fillRect/>
          </a:stretch>
        </p:blipFill>
        <p:spPr>
          <a:xfrm>
            <a:off x="1158087" y="1417320"/>
            <a:ext cx="9875520" cy="3950208"/>
          </a:xfrm>
          <a:prstGeom prst="rect">
            <a:avLst/>
          </a:prstGeom>
        </p:spPr>
      </p:pic>
      <p:sp>
        <p:nvSpPr>
          <p:cNvPr id="5" name="Rounded Rectangle 4"/>
          <p:cNvSpPr/>
          <p:nvPr/>
        </p:nvSpPr>
        <p:spPr>
          <a:xfrm>
            <a:off x="731520" y="5504688"/>
            <a:ext cx="10725912" cy="68580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504688"/>
            <a:ext cx="82296"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614416"/>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Each result gets one ordinal grade by a written rubric (schema.md). All grades are currently flagged 'provisional' — confirming them is the sign-off we're asking a biochemistry expert for.</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Grades span the full range — including safe controls</a:t>
            </a:r>
          </a:p>
        </p:txBody>
      </p:sp>
      <p:sp>
        <p:nvSpPr>
          <p:cNvPr id="4" name="TextBox 3"/>
          <p:cNvSpPr txBox="1"/>
          <p:nvPr/>
        </p:nvSpPr>
        <p:spPr>
          <a:xfrm>
            <a:off x="365760" y="1719072"/>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0 — no signal (controls)</a:t>
            </a:r>
          </a:p>
        </p:txBody>
      </p:sp>
      <p:sp>
        <p:nvSpPr>
          <p:cNvPr id="5" name="Rounded Rectangle 4"/>
          <p:cNvSpPr/>
          <p:nvPr/>
        </p:nvSpPr>
        <p:spPr>
          <a:xfrm>
            <a:off x="2880360" y="1737360"/>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80360" y="1737360"/>
            <a:ext cx="5064369" cy="310896"/>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05288" y="1719072"/>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27</a:t>
            </a:r>
          </a:p>
        </p:txBody>
      </p:sp>
      <p:sp>
        <p:nvSpPr>
          <p:cNvPr id="8" name="TextBox 7"/>
          <p:cNvSpPr txBox="1"/>
          <p:nvPr/>
        </p:nvSpPr>
        <p:spPr>
          <a:xfrm>
            <a:off x="365760" y="2157984"/>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1 — mild / functional</a:t>
            </a:r>
          </a:p>
        </p:txBody>
      </p:sp>
      <p:sp>
        <p:nvSpPr>
          <p:cNvPr id="9" name="Rounded Rectangle 8"/>
          <p:cNvSpPr/>
          <p:nvPr/>
        </p:nvSpPr>
        <p:spPr>
          <a:xfrm>
            <a:off x="2880360" y="2176272"/>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0360" y="2176272"/>
            <a:ext cx="5627076" cy="310896"/>
          </a:xfrm>
          <a:prstGeom prst="round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05288" y="2157984"/>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30</a:t>
            </a:r>
          </a:p>
        </p:txBody>
      </p:sp>
      <p:sp>
        <p:nvSpPr>
          <p:cNvPr id="12" name="TextBox 11"/>
          <p:cNvSpPr txBox="1"/>
          <p:nvPr/>
        </p:nvSpPr>
        <p:spPr>
          <a:xfrm>
            <a:off x="365760" y="2596896"/>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2 — moderate injury</a:t>
            </a:r>
          </a:p>
        </p:txBody>
      </p:sp>
      <p:sp>
        <p:nvSpPr>
          <p:cNvPr id="13" name="Rounded Rectangle 12"/>
          <p:cNvSpPr/>
          <p:nvPr/>
        </p:nvSpPr>
        <p:spPr>
          <a:xfrm>
            <a:off x="2880360" y="2615184"/>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80360" y="2615184"/>
            <a:ext cx="7315200" cy="310896"/>
          </a:xfrm>
          <a:prstGeom prst="roundRect">
            <a:avLst/>
          </a:prstGeom>
          <a:solidFill>
            <a:srgbClr val="E87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05288" y="2596896"/>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39</a:t>
            </a:r>
          </a:p>
        </p:txBody>
      </p:sp>
      <p:sp>
        <p:nvSpPr>
          <p:cNvPr id="16" name="TextBox 15"/>
          <p:cNvSpPr txBox="1"/>
          <p:nvPr/>
        </p:nvSpPr>
        <p:spPr>
          <a:xfrm>
            <a:off x="365760" y="3035808"/>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3 — severe</a:t>
            </a:r>
          </a:p>
        </p:txBody>
      </p:sp>
      <p:sp>
        <p:nvSpPr>
          <p:cNvPr id="17" name="Rounded Rectangle 16"/>
          <p:cNvSpPr/>
          <p:nvPr/>
        </p:nvSpPr>
        <p:spPr>
          <a:xfrm>
            <a:off x="2880360" y="3054096"/>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80360" y="3054096"/>
            <a:ext cx="2813538" cy="310896"/>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05288" y="3035808"/>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15</a:t>
            </a:r>
          </a:p>
        </p:txBody>
      </p:sp>
      <p:sp>
        <p:nvSpPr>
          <p:cNvPr id="20" name="Rounded Rectangle 19"/>
          <p:cNvSpPr/>
          <p:nvPr/>
        </p:nvSpPr>
        <p:spPr>
          <a:xfrm>
            <a:off x="731520" y="3630168"/>
            <a:ext cx="10725912" cy="82296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630168"/>
            <a:ext cx="82296" cy="8229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758183"/>
            <a:ext cx="10241280" cy="594360"/>
          </a:xfrm>
          <a:prstGeom prst="rect">
            <a:avLst/>
          </a:prstGeom>
          <a:noFill/>
        </p:spPr>
        <p:txBody>
          <a:bodyPr wrap="square" anchor="t" lIns="0" rIns="0" tIns="0" bIns="0">
            <a:spAutoFit/>
          </a:bodyPr>
          <a:lstStyle/>
          <a:p>
            <a:pPr algn="l">
              <a:lnSpc>
                <a:spcPct val="112000"/>
              </a:lnSpc>
            </a:pPr>
            <a:r>
              <a:rPr sz="1500" b="0">
                <a:solidFill>
                  <a:srgbClr val="14202B"/>
                </a:solidFill>
                <a:latin typeface="Arial"/>
              </a:rPr>
              <a:t>A healthy spread across all four levels — a usable dataset needs examples of every severity. The 27 grade-0 rows are real negative controls (GalNAc-siRNA, intrathecal ASO, aptamer).</a:t>
            </a:r>
          </a:p>
        </p:txBody>
      </p:sp>
      <p:sp>
        <p:nvSpPr>
          <p:cNvPr id="23" name="TextBox 22"/>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24" name="TextBox 23"/>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Coverage: every oligonucleotide family</a:t>
            </a:r>
          </a:p>
        </p:txBody>
      </p:sp>
      <p:sp>
        <p:nvSpPr>
          <p:cNvPr id="4" name="TextBox 3"/>
          <p:cNvSpPr txBox="1"/>
          <p:nvPr/>
        </p:nvSpPr>
        <p:spPr>
          <a:xfrm>
            <a:off x="365760" y="1719072"/>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ASO gapmer</a:t>
            </a:r>
          </a:p>
        </p:txBody>
      </p:sp>
      <p:sp>
        <p:nvSpPr>
          <p:cNvPr id="5" name="Rounded Rectangle 4"/>
          <p:cNvSpPr/>
          <p:nvPr/>
        </p:nvSpPr>
        <p:spPr>
          <a:xfrm>
            <a:off x="2880360" y="1737360"/>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80360" y="1737360"/>
            <a:ext cx="731520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05288" y="1719072"/>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40</a:t>
            </a:r>
          </a:p>
        </p:txBody>
      </p:sp>
      <p:sp>
        <p:nvSpPr>
          <p:cNvPr id="8" name="TextBox 7"/>
          <p:cNvSpPr txBox="1"/>
          <p:nvPr/>
        </p:nvSpPr>
        <p:spPr>
          <a:xfrm>
            <a:off x="365760" y="2157984"/>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GalNAc-siRNA</a:t>
            </a:r>
          </a:p>
        </p:txBody>
      </p:sp>
      <p:sp>
        <p:nvSpPr>
          <p:cNvPr id="9" name="Rounded Rectangle 8"/>
          <p:cNvSpPr/>
          <p:nvPr/>
        </p:nvSpPr>
        <p:spPr>
          <a:xfrm>
            <a:off x="2880360" y="2176272"/>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0360" y="2176272"/>
            <a:ext cx="219456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05288" y="2157984"/>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12</a:t>
            </a:r>
          </a:p>
        </p:txBody>
      </p:sp>
      <p:sp>
        <p:nvSpPr>
          <p:cNvPr id="12" name="TextBox 11"/>
          <p:cNvSpPr txBox="1"/>
          <p:nvPr/>
        </p:nvSpPr>
        <p:spPr>
          <a:xfrm>
            <a:off x="365760" y="2596896"/>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splice-switching ASO</a:t>
            </a:r>
          </a:p>
        </p:txBody>
      </p:sp>
      <p:sp>
        <p:nvSpPr>
          <p:cNvPr id="13" name="Rounded Rectangle 12"/>
          <p:cNvSpPr/>
          <p:nvPr/>
        </p:nvSpPr>
        <p:spPr>
          <a:xfrm>
            <a:off x="2880360" y="2615184"/>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80360" y="2615184"/>
            <a:ext cx="73152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05288" y="2596896"/>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4</a:t>
            </a:r>
          </a:p>
        </p:txBody>
      </p:sp>
      <p:sp>
        <p:nvSpPr>
          <p:cNvPr id="16" name="TextBox 15"/>
          <p:cNvSpPr txBox="1"/>
          <p:nvPr/>
        </p:nvSpPr>
        <p:spPr>
          <a:xfrm>
            <a:off x="365760" y="3035808"/>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PMO</a:t>
            </a:r>
          </a:p>
        </p:txBody>
      </p:sp>
      <p:sp>
        <p:nvSpPr>
          <p:cNvPr id="17" name="Rounded Rectangle 16"/>
          <p:cNvSpPr/>
          <p:nvPr/>
        </p:nvSpPr>
        <p:spPr>
          <a:xfrm>
            <a:off x="2880360" y="3054096"/>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80360" y="3054096"/>
            <a:ext cx="73152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05288" y="3035808"/>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4</a:t>
            </a:r>
          </a:p>
        </p:txBody>
      </p:sp>
      <p:sp>
        <p:nvSpPr>
          <p:cNvPr id="20" name="TextBox 19"/>
          <p:cNvSpPr txBox="1"/>
          <p:nvPr/>
        </p:nvSpPr>
        <p:spPr>
          <a:xfrm>
            <a:off x="365760" y="3474720"/>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siRNA</a:t>
            </a:r>
          </a:p>
        </p:txBody>
      </p:sp>
      <p:sp>
        <p:nvSpPr>
          <p:cNvPr id="21" name="Rounded Rectangle 20"/>
          <p:cNvSpPr/>
          <p:nvPr/>
        </p:nvSpPr>
        <p:spPr>
          <a:xfrm>
            <a:off x="2880360" y="3493008"/>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80360" y="3493008"/>
            <a:ext cx="36576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05288" y="3474720"/>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2</a:t>
            </a:r>
          </a:p>
        </p:txBody>
      </p:sp>
      <p:sp>
        <p:nvSpPr>
          <p:cNvPr id="24" name="TextBox 23"/>
          <p:cNvSpPr txBox="1"/>
          <p:nvPr/>
        </p:nvSpPr>
        <p:spPr>
          <a:xfrm>
            <a:off x="365760" y="3913632"/>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1st-gen PS-DNA</a:t>
            </a:r>
          </a:p>
        </p:txBody>
      </p:sp>
      <p:sp>
        <p:nvSpPr>
          <p:cNvPr id="25" name="Rounded Rectangle 24"/>
          <p:cNvSpPr/>
          <p:nvPr/>
        </p:nvSpPr>
        <p:spPr>
          <a:xfrm>
            <a:off x="2880360" y="3931920"/>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880360" y="3931920"/>
            <a:ext cx="36576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05288" y="3913632"/>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2</a:t>
            </a:r>
          </a:p>
        </p:txBody>
      </p:sp>
      <p:sp>
        <p:nvSpPr>
          <p:cNvPr id="28" name="TextBox 27"/>
          <p:cNvSpPr txBox="1"/>
          <p:nvPr/>
        </p:nvSpPr>
        <p:spPr>
          <a:xfrm>
            <a:off x="365760" y="4352544"/>
            <a:ext cx="2606040" cy="402336"/>
          </a:xfrm>
          <a:prstGeom prst="rect">
            <a:avLst/>
          </a:prstGeom>
          <a:noFill/>
        </p:spPr>
        <p:txBody>
          <a:bodyPr wrap="square" anchor="ctr" lIns="0" rIns="0" tIns="0" bIns="0">
            <a:spAutoFit/>
          </a:bodyPr>
          <a:lstStyle/>
          <a:p>
            <a:pPr algn="r">
              <a:lnSpc>
                <a:spcPct val="108000"/>
              </a:lnSpc>
            </a:pPr>
            <a:r>
              <a:rPr sz="1500" b="0">
                <a:solidFill>
                  <a:srgbClr val="14202B"/>
                </a:solidFill>
                <a:latin typeface="Arial"/>
              </a:rPr>
              <a:t>aptamer</a:t>
            </a:r>
          </a:p>
        </p:txBody>
      </p:sp>
      <p:sp>
        <p:nvSpPr>
          <p:cNvPr id="29" name="Rounded Rectangle 28"/>
          <p:cNvSpPr/>
          <p:nvPr/>
        </p:nvSpPr>
        <p:spPr>
          <a:xfrm>
            <a:off x="2880360" y="4370832"/>
            <a:ext cx="7315200" cy="310896"/>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880360" y="4370832"/>
            <a:ext cx="182880" cy="310896"/>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05288" y="4352544"/>
            <a:ext cx="548640" cy="402336"/>
          </a:xfrm>
          <a:prstGeom prst="rect">
            <a:avLst/>
          </a:prstGeom>
          <a:noFill/>
        </p:spPr>
        <p:txBody>
          <a:bodyPr wrap="square" anchor="ctr" lIns="0" rIns="0" tIns="0" bIns="0">
            <a:spAutoFit/>
          </a:bodyPr>
          <a:lstStyle/>
          <a:p>
            <a:pPr algn="l">
              <a:lnSpc>
                <a:spcPct val="108000"/>
              </a:lnSpc>
            </a:pPr>
            <a:r>
              <a:rPr sz="1500" b="1">
                <a:solidFill>
                  <a:srgbClr val="0E4D64"/>
                </a:solidFill>
                <a:latin typeface="Arial"/>
              </a:rPr>
              <a:t>1</a:t>
            </a:r>
          </a:p>
        </p:txBody>
      </p:sp>
      <p:sp>
        <p:nvSpPr>
          <p:cNvPr id="32" name="Rounded Rectangle 31"/>
          <p:cNvSpPr/>
          <p:nvPr/>
        </p:nvSpPr>
        <p:spPr>
          <a:xfrm>
            <a:off x="731520" y="4946904"/>
            <a:ext cx="10725912" cy="82296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4946904"/>
            <a:ext cx="82296" cy="8229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5074920"/>
            <a:ext cx="10241280" cy="594360"/>
          </a:xfrm>
          <a:prstGeom prst="rect">
            <a:avLst/>
          </a:prstGeom>
          <a:noFill/>
        </p:spPr>
        <p:txBody>
          <a:bodyPr wrap="square" anchor="t" lIns="0" rIns="0" tIns="0" bIns="0">
            <a:spAutoFit/>
          </a:bodyPr>
          <a:lstStyle/>
          <a:p>
            <a:pPr algn="l">
              <a:lnSpc>
                <a:spcPct val="112000"/>
              </a:lnSpc>
            </a:pPr>
            <a:r>
              <a:rPr sz="1500" b="0">
                <a:solidFill>
                  <a:srgbClr val="14202B"/>
                </a:solidFill>
                <a:latin typeface="Arial"/>
              </a:rPr>
              <a:t>Gapmer = DNA 'gap' + modified wings (cuts target RNA). siRNA = double-stranded silencer; GalNAc = liver-homing sugar tag. PMO = neutral splice fixer. Aptamer = an oligo folded to grab a protein.</a:t>
            </a:r>
          </a:p>
        </p:txBody>
      </p:sp>
      <p:sp>
        <p:nvSpPr>
          <p:cNvPr id="35" name="TextBox 34"/>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36" name="TextBox 35"/>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Coverage: dish → animal → human (the translation axis)</a:t>
            </a:r>
          </a:p>
        </p:txBody>
      </p:sp>
      <p:sp>
        <p:nvSpPr>
          <p:cNvPr id="4" name="TextBox 3"/>
          <p:cNvSpPr txBox="1"/>
          <p:nvPr/>
        </p:nvSpPr>
        <p:spPr>
          <a:xfrm>
            <a:off x="731520" y="1417320"/>
            <a:ext cx="4572000" cy="274320"/>
          </a:xfrm>
          <a:prstGeom prst="rect">
            <a:avLst/>
          </a:prstGeom>
          <a:noFill/>
        </p:spPr>
        <p:txBody>
          <a:bodyPr wrap="square" anchor="t" lIns="0" rIns="0" tIns="0" bIns="0">
            <a:spAutoFit/>
          </a:bodyPr>
          <a:lstStyle/>
          <a:p>
            <a:pPr algn="l">
              <a:lnSpc>
                <a:spcPct val="108000"/>
              </a:lnSpc>
            </a:pPr>
            <a:r>
              <a:rPr sz="1200" b="1">
                <a:solidFill>
                  <a:srgbClr val="17A2B8"/>
                </a:solidFill>
                <a:latin typeface="Arial"/>
              </a:rPr>
              <a:t>STUDY TYPE</a:t>
            </a:r>
          </a:p>
        </p:txBody>
      </p:sp>
      <p:sp>
        <p:nvSpPr>
          <p:cNvPr id="5" name="TextBox 4"/>
          <p:cNvSpPr txBox="1"/>
          <p:nvPr/>
        </p:nvSpPr>
        <p:spPr>
          <a:xfrm>
            <a:off x="731520" y="1810512"/>
            <a:ext cx="192024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animal</a:t>
            </a:r>
          </a:p>
        </p:txBody>
      </p:sp>
      <p:sp>
        <p:nvSpPr>
          <p:cNvPr id="6" name="Rounded Rectangle 5"/>
          <p:cNvSpPr/>
          <p:nvPr/>
        </p:nvSpPr>
        <p:spPr>
          <a:xfrm>
            <a:off x="2834640" y="1828800"/>
            <a:ext cx="28346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34640" y="1828800"/>
            <a:ext cx="2834640"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18105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53</a:t>
            </a:r>
          </a:p>
        </p:txBody>
      </p:sp>
      <p:sp>
        <p:nvSpPr>
          <p:cNvPr id="9" name="TextBox 8"/>
          <p:cNvSpPr txBox="1"/>
          <p:nvPr/>
        </p:nvSpPr>
        <p:spPr>
          <a:xfrm>
            <a:off x="731520" y="2267712"/>
            <a:ext cx="192024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clinical (human)</a:t>
            </a:r>
          </a:p>
        </p:txBody>
      </p:sp>
      <p:sp>
        <p:nvSpPr>
          <p:cNvPr id="10" name="Rounded Rectangle 9"/>
          <p:cNvSpPr/>
          <p:nvPr/>
        </p:nvSpPr>
        <p:spPr>
          <a:xfrm>
            <a:off x="2834640" y="2286000"/>
            <a:ext cx="28346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34640" y="2286000"/>
            <a:ext cx="2085867"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22677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39</a:t>
            </a:r>
          </a:p>
        </p:txBody>
      </p:sp>
      <p:sp>
        <p:nvSpPr>
          <p:cNvPr id="13" name="TextBox 12"/>
          <p:cNvSpPr txBox="1"/>
          <p:nvPr/>
        </p:nvSpPr>
        <p:spPr>
          <a:xfrm>
            <a:off x="731520" y="2724912"/>
            <a:ext cx="192024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in-vitro (dish)</a:t>
            </a:r>
          </a:p>
        </p:txBody>
      </p:sp>
      <p:sp>
        <p:nvSpPr>
          <p:cNvPr id="14" name="Rounded Rectangle 13"/>
          <p:cNvSpPr/>
          <p:nvPr/>
        </p:nvSpPr>
        <p:spPr>
          <a:xfrm>
            <a:off x="2834640" y="2743200"/>
            <a:ext cx="28346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34640" y="2743200"/>
            <a:ext cx="1016191"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0" y="27249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19</a:t>
            </a:r>
          </a:p>
        </p:txBody>
      </p:sp>
      <p:sp>
        <p:nvSpPr>
          <p:cNvPr id="17" name="TextBox 16"/>
          <p:cNvSpPr txBox="1"/>
          <p:nvPr/>
        </p:nvSpPr>
        <p:spPr>
          <a:xfrm>
            <a:off x="6400800" y="1417320"/>
            <a:ext cx="4572000" cy="274320"/>
          </a:xfrm>
          <a:prstGeom prst="rect">
            <a:avLst/>
          </a:prstGeom>
          <a:noFill/>
        </p:spPr>
        <p:txBody>
          <a:bodyPr wrap="square" anchor="t" lIns="0" rIns="0" tIns="0" bIns="0">
            <a:spAutoFit/>
          </a:bodyPr>
          <a:lstStyle/>
          <a:p>
            <a:pPr algn="l">
              <a:lnSpc>
                <a:spcPct val="108000"/>
              </a:lnSpc>
            </a:pPr>
            <a:r>
              <a:rPr sz="1200" b="1">
                <a:solidFill>
                  <a:srgbClr val="17A2B8"/>
                </a:solidFill>
                <a:latin typeface="Arial"/>
              </a:rPr>
              <a:t>SPECIES</a:t>
            </a:r>
          </a:p>
        </p:txBody>
      </p:sp>
      <p:sp>
        <p:nvSpPr>
          <p:cNvPr id="18" name="TextBox 17"/>
          <p:cNvSpPr txBox="1"/>
          <p:nvPr/>
        </p:nvSpPr>
        <p:spPr>
          <a:xfrm>
            <a:off x="6400800" y="1810512"/>
            <a:ext cx="182880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human</a:t>
            </a:r>
          </a:p>
        </p:txBody>
      </p:sp>
      <p:sp>
        <p:nvSpPr>
          <p:cNvPr id="19" name="Rounded Rectangle 18"/>
          <p:cNvSpPr/>
          <p:nvPr/>
        </p:nvSpPr>
        <p:spPr>
          <a:xfrm>
            <a:off x="8412480" y="1828800"/>
            <a:ext cx="23774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1828800"/>
            <a:ext cx="2377440"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81359" y="18105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58</a:t>
            </a:r>
          </a:p>
        </p:txBody>
      </p:sp>
      <p:sp>
        <p:nvSpPr>
          <p:cNvPr id="22" name="TextBox 21"/>
          <p:cNvSpPr txBox="1"/>
          <p:nvPr/>
        </p:nvSpPr>
        <p:spPr>
          <a:xfrm>
            <a:off x="6400800" y="2267712"/>
            <a:ext cx="182880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mouse</a:t>
            </a:r>
          </a:p>
        </p:txBody>
      </p:sp>
      <p:sp>
        <p:nvSpPr>
          <p:cNvPr id="23" name="Rounded Rectangle 22"/>
          <p:cNvSpPr/>
          <p:nvPr/>
        </p:nvSpPr>
        <p:spPr>
          <a:xfrm>
            <a:off x="8412480" y="2286000"/>
            <a:ext cx="23774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12480" y="2286000"/>
            <a:ext cx="1229710"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81359" y="22677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30</a:t>
            </a:r>
          </a:p>
        </p:txBody>
      </p:sp>
      <p:sp>
        <p:nvSpPr>
          <p:cNvPr id="26" name="TextBox 25"/>
          <p:cNvSpPr txBox="1"/>
          <p:nvPr/>
        </p:nvSpPr>
        <p:spPr>
          <a:xfrm>
            <a:off x="6400800" y="2724912"/>
            <a:ext cx="182880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multi-species</a:t>
            </a:r>
          </a:p>
        </p:txBody>
      </p:sp>
      <p:sp>
        <p:nvSpPr>
          <p:cNvPr id="27" name="Rounded Rectangle 26"/>
          <p:cNvSpPr/>
          <p:nvPr/>
        </p:nvSpPr>
        <p:spPr>
          <a:xfrm>
            <a:off x="8412480" y="2743200"/>
            <a:ext cx="23774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12480" y="2743200"/>
            <a:ext cx="327922"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81359" y="27249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8</a:t>
            </a:r>
          </a:p>
        </p:txBody>
      </p:sp>
      <p:sp>
        <p:nvSpPr>
          <p:cNvPr id="30" name="TextBox 29"/>
          <p:cNvSpPr txBox="1"/>
          <p:nvPr/>
        </p:nvSpPr>
        <p:spPr>
          <a:xfrm>
            <a:off x="6400800" y="3182112"/>
            <a:ext cx="182880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rat</a:t>
            </a:r>
          </a:p>
        </p:txBody>
      </p:sp>
      <p:sp>
        <p:nvSpPr>
          <p:cNvPr id="31" name="Rounded Rectangle 30"/>
          <p:cNvSpPr/>
          <p:nvPr/>
        </p:nvSpPr>
        <p:spPr>
          <a:xfrm>
            <a:off x="8412480" y="3200400"/>
            <a:ext cx="23774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412480" y="3200400"/>
            <a:ext cx="327922"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81359" y="31821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8</a:t>
            </a:r>
          </a:p>
        </p:txBody>
      </p:sp>
      <p:sp>
        <p:nvSpPr>
          <p:cNvPr id="34" name="TextBox 33"/>
          <p:cNvSpPr txBox="1"/>
          <p:nvPr/>
        </p:nvSpPr>
        <p:spPr>
          <a:xfrm>
            <a:off x="6400800" y="3639312"/>
            <a:ext cx="1828800" cy="310896"/>
          </a:xfrm>
          <a:prstGeom prst="rect">
            <a:avLst/>
          </a:prstGeom>
          <a:noFill/>
        </p:spPr>
        <p:txBody>
          <a:bodyPr wrap="square" anchor="ctr" lIns="0" rIns="0" tIns="0" bIns="0">
            <a:spAutoFit/>
          </a:bodyPr>
          <a:lstStyle/>
          <a:p>
            <a:pPr algn="r">
              <a:lnSpc>
                <a:spcPct val="108000"/>
              </a:lnSpc>
            </a:pPr>
            <a:r>
              <a:rPr sz="1300" b="0">
                <a:solidFill>
                  <a:srgbClr val="14202B"/>
                </a:solidFill>
                <a:latin typeface="Arial"/>
              </a:rPr>
              <a:t>monkey</a:t>
            </a:r>
          </a:p>
        </p:txBody>
      </p:sp>
      <p:sp>
        <p:nvSpPr>
          <p:cNvPr id="35" name="Rounded Rectangle 34"/>
          <p:cNvSpPr/>
          <p:nvPr/>
        </p:nvSpPr>
        <p:spPr>
          <a:xfrm>
            <a:off x="8412480" y="3657600"/>
            <a:ext cx="2377440" cy="274320"/>
          </a:xfrm>
          <a:prstGeom prst="round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412480" y="3657600"/>
            <a:ext cx="286932" cy="274320"/>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81359" y="3639312"/>
            <a:ext cx="457200" cy="310896"/>
          </a:xfrm>
          <a:prstGeom prst="rect">
            <a:avLst/>
          </a:prstGeom>
          <a:noFill/>
        </p:spPr>
        <p:txBody>
          <a:bodyPr wrap="square" anchor="ctr" lIns="0" rIns="0" tIns="0" bIns="0">
            <a:spAutoFit/>
          </a:bodyPr>
          <a:lstStyle/>
          <a:p>
            <a:pPr algn="l">
              <a:lnSpc>
                <a:spcPct val="108000"/>
              </a:lnSpc>
            </a:pPr>
            <a:r>
              <a:rPr sz="1300" b="1">
                <a:solidFill>
                  <a:srgbClr val="0E4D64"/>
                </a:solidFill>
                <a:latin typeface="Arial"/>
              </a:rPr>
              <a:t>7</a:t>
            </a:r>
          </a:p>
        </p:txBody>
      </p:sp>
      <p:sp>
        <p:nvSpPr>
          <p:cNvPr id="38" name="Rounded Rectangle 37"/>
          <p:cNvSpPr/>
          <p:nvPr/>
        </p:nvSpPr>
        <p:spPr>
          <a:xfrm>
            <a:off x="731520" y="4846320"/>
            <a:ext cx="10725912" cy="86868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4846320"/>
            <a:ext cx="82296" cy="86868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5029200"/>
            <a:ext cx="10241280" cy="59436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Having dish, animal, and human rows side by side — measured the same way — lets the animal-to-human translation gap be studied directly (Finding 3).</a:t>
            </a:r>
          </a:p>
        </p:txBody>
      </p:sp>
      <p:sp>
        <p:nvSpPr>
          <p:cNvPr id="41" name="TextBox 40"/>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42" name="TextBox 41"/>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9144000" cy="274320"/>
          </a:xfrm>
          <a:prstGeom prst="rect">
            <a:avLst/>
          </a:prstGeom>
          <a:noFill/>
        </p:spPr>
        <p:txBody>
          <a:bodyPr wrap="square" anchor="t" lIns="0" rIns="0" tIns="0" bIns="0">
            <a:spAutoFit/>
          </a:bodyPr>
          <a:lstStyle/>
          <a:p>
            <a:pPr algn="l">
              <a:lnSpc>
                <a:spcPct val="108000"/>
              </a:lnSpc>
            </a:pPr>
            <a:r>
              <a:rPr sz="1200" b="1">
                <a:solidFill>
                  <a:srgbClr val="7FD3E0"/>
                </a:solidFill>
                <a:latin typeface="Arial"/>
              </a:rPr>
              <a:t>PART 3</a:t>
            </a:r>
          </a:p>
        </p:txBody>
      </p:sp>
      <p:sp>
        <p:nvSpPr>
          <p:cNvPr id="4" name="Rectangle 3"/>
          <p:cNvSpPr/>
          <p:nvPr/>
        </p:nvSpPr>
        <p:spPr>
          <a:xfrm>
            <a:off x="822960" y="3063240"/>
            <a:ext cx="109728"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17520"/>
            <a:ext cx="10058400" cy="822960"/>
          </a:xfrm>
          <a:prstGeom prst="rect">
            <a:avLst/>
          </a:prstGeom>
          <a:noFill/>
        </p:spPr>
        <p:txBody>
          <a:bodyPr wrap="square" anchor="t" lIns="0" rIns="0" tIns="0" bIns="0">
            <a:spAutoFit/>
          </a:bodyPr>
          <a:lstStyle/>
          <a:p>
            <a:pPr algn="l">
              <a:lnSpc>
                <a:spcPct val="108000"/>
              </a:lnSpc>
            </a:pPr>
            <a:r>
              <a:rPr sz="4000" b="1">
                <a:solidFill>
                  <a:srgbClr val="FFFFFF"/>
                </a:solidFill>
                <a:latin typeface="Arial"/>
              </a:rPr>
              <a:t>How we built it</a:t>
            </a:r>
          </a:p>
        </p:txBody>
      </p:sp>
      <p:sp>
        <p:nvSpPr>
          <p:cNvPr id="6" name="TextBox 5"/>
          <p:cNvSpPr txBox="1"/>
          <p:nvPr/>
        </p:nvSpPr>
        <p:spPr>
          <a:xfrm>
            <a:off x="1051560" y="3977639"/>
            <a:ext cx="10058400" cy="457200"/>
          </a:xfrm>
          <a:prstGeom prst="rect">
            <a:avLst/>
          </a:prstGeom>
          <a:noFill/>
        </p:spPr>
        <p:txBody>
          <a:bodyPr wrap="square" anchor="t" lIns="0" rIns="0" tIns="0" bIns="0">
            <a:spAutoFit/>
          </a:bodyPr>
          <a:lstStyle/>
          <a:p>
            <a:pPr algn="l">
              <a:lnSpc>
                <a:spcPct val="108000"/>
              </a:lnSpc>
            </a:pPr>
            <a:r>
              <a:rPr sz="2000" b="0">
                <a:solidFill>
                  <a:srgbClr val="CFE6EC"/>
                </a:solidFill>
                <a:latin typeface="Arial"/>
              </a:rPr>
              <a:t>Methodology, the integrity rule, and the sources researched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Three ways we gathered data — each tagged per row</a:t>
            </a:r>
          </a:p>
        </p:txBody>
      </p:sp>
      <p:pic>
        <p:nvPicPr>
          <p:cNvPr id="4" name="Picture 3" descr="extraction.png"/>
          <p:cNvPicPr>
            <a:picLocks noChangeAspect="1"/>
          </p:cNvPicPr>
          <p:nvPr/>
        </p:nvPicPr>
        <p:blipFill>
          <a:blip r:embed="rId2"/>
          <a:stretch>
            <a:fillRect/>
          </a:stretch>
        </p:blipFill>
        <p:spPr>
          <a:xfrm>
            <a:off x="1158087" y="1417320"/>
            <a:ext cx="9875520" cy="3860430"/>
          </a:xfrm>
          <a:prstGeom prst="rect">
            <a:avLst/>
          </a:prstGeom>
        </p:spPr>
      </p:pic>
      <p:sp>
        <p:nvSpPr>
          <p:cNvPr id="5" name="Rounded Rectangle 4"/>
          <p:cNvSpPr/>
          <p:nvPr/>
        </p:nvSpPr>
        <p:spPr>
          <a:xfrm>
            <a:off x="731520" y="5414910"/>
            <a:ext cx="10725912" cy="68580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414910"/>
            <a:ext cx="82296"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524638"/>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Every row records how it was obtained, so its reliability is visible. Web-search rows are flagged for re-checking because this secure environment blocks downloading full papers.</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The rule that makes the dataset trustworthy</a:t>
            </a:r>
          </a:p>
        </p:txBody>
      </p:sp>
      <p:sp>
        <p:nvSpPr>
          <p:cNvPr id="4" name="Rounded Rectangle 3"/>
          <p:cNvSpPr/>
          <p:nvPr/>
        </p:nvSpPr>
        <p:spPr>
          <a:xfrm>
            <a:off x="731520" y="1508760"/>
            <a:ext cx="10725912" cy="1737360"/>
          </a:xfrm>
          <a:prstGeom prst="roundRect">
            <a:avLst/>
          </a:prstGeom>
          <a:solidFill>
            <a:srgbClr val="FB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08760"/>
            <a:ext cx="100584" cy="1737360"/>
          </a:xfrm>
          <a:prstGeom prst="rect">
            <a:avLst/>
          </a:prstGeom>
          <a:solidFill>
            <a:srgbClr val="E87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49840" cy="1371600"/>
          </a:xfrm>
          <a:prstGeom prst="rect">
            <a:avLst/>
          </a:prstGeom>
          <a:noFill/>
        </p:spPr>
        <p:txBody>
          <a:bodyPr wrap="square" anchor="t" lIns="0" rIns="0" tIns="0" bIns="0">
            <a:spAutoFit/>
          </a:bodyPr>
          <a:lstStyle/>
          <a:p>
            <a:pPr algn="l">
              <a:lnSpc>
                <a:spcPct val="120000"/>
              </a:lnSpc>
            </a:pPr>
            <a:r>
              <a:rPr sz="2200" b="1">
                <a:solidFill>
                  <a:srgbClr val="0E4D64"/>
                </a:solidFill>
                <a:latin typeface="Arial"/>
              </a:rPr>
              <a:t>⚠  Strict no-fabrication policy</a:t>
            </a:r>
          </a:p>
          <a:p>
            <a:pPr algn="l">
              <a:lnSpc>
                <a:spcPct val="120000"/>
              </a:lnSpc>
            </a:pPr>
            <a:r>
              <a:rPr sz="1700" b="0">
                <a:solidFill>
                  <a:srgbClr val="14202B"/>
                </a:solidFill>
                <a:latin typeface="Arial"/>
              </a:rPr>
              <a:t>Drug sequences and toxicity values are never invented or recalled from memory. A value goes in only if an explicit, citable, redistribution-permitted source states it. Drugs with no published kidney data were omitted, not padded.</a:t>
            </a:r>
          </a:p>
        </p:txBody>
      </p:sp>
      <p:sp>
        <p:nvSpPr>
          <p:cNvPr id="7" name="Rounded Rectangle 6"/>
          <p:cNvSpPr/>
          <p:nvPr/>
        </p:nvSpPr>
        <p:spPr>
          <a:xfrm>
            <a:off x="731520" y="3566160"/>
            <a:ext cx="5257800" cy="182880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749039"/>
            <a:ext cx="4846320" cy="1554480"/>
          </a:xfrm>
          <a:prstGeom prst="rect">
            <a:avLst/>
          </a:prstGeom>
          <a:noFill/>
        </p:spPr>
        <p:txBody>
          <a:bodyPr wrap="square" anchor="t" lIns="0" rIns="0" tIns="0" bIns="0">
            <a:spAutoFit/>
          </a:bodyPr>
          <a:lstStyle/>
          <a:p>
            <a:pPr algn="l">
              <a:lnSpc>
                <a:spcPct val="115000"/>
              </a:lnSpc>
            </a:pPr>
            <a:r>
              <a:rPr sz="1400" b="1">
                <a:solidFill>
                  <a:srgbClr val="17A2B8"/>
                </a:solidFill>
                <a:latin typeface="Arial"/>
              </a:rPr>
              <a:t>Why sequences are 33/65, not 65/65</a:t>
            </a:r>
          </a:p>
          <a:p>
            <a:pPr algn="l">
              <a:lnSpc>
                <a:spcPct val="115000"/>
              </a:lnSpc>
            </a:pPr>
            <a:r>
              <a:rPr sz="1500" b="0">
                <a:solidFill>
                  <a:srgbClr val="14202B"/>
                </a:solidFill>
                <a:latin typeface="Arial"/>
              </a:rPr>
              <a:t>The 32 blanks are real gaps, honestly marked 'TBD'. A falsely-complete table can't be trusted at all.</a:t>
            </a:r>
          </a:p>
        </p:txBody>
      </p:sp>
      <p:sp>
        <p:nvSpPr>
          <p:cNvPr id="9" name="Rounded Rectangle 8"/>
          <p:cNvSpPr/>
          <p:nvPr/>
        </p:nvSpPr>
        <p:spPr>
          <a:xfrm>
            <a:off x="6172200" y="3566160"/>
            <a:ext cx="5285232" cy="182880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749039"/>
            <a:ext cx="4846320" cy="1554480"/>
          </a:xfrm>
          <a:prstGeom prst="rect">
            <a:avLst/>
          </a:prstGeom>
          <a:noFill/>
        </p:spPr>
        <p:txBody>
          <a:bodyPr wrap="square" anchor="t" lIns="0" rIns="0" tIns="0" bIns="0">
            <a:spAutoFit/>
          </a:bodyPr>
          <a:lstStyle/>
          <a:p>
            <a:pPr algn="l">
              <a:lnSpc>
                <a:spcPct val="115000"/>
              </a:lnSpc>
            </a:pPr>
            <a:r>
              <a:rPr sz="1400" b="1">
                <a:solidFill>
                  <a:srgbClr val="17A2B8"/>
                </a:solidFill>
                <a:latin typeface="Arial"/>
              </a:rPr>
              <a:t>Why it matters to a reviewer</a:t>
            </a:r>
          </a:p>
          <a:p>
            <a:pPr algn="l">
              <a:lnSpc>
                <a:spcPct val="115000"/>
              </a:lnSpc>
            </a:pPr>
            <a:r>
              <a:rPr sz="1500" b="0">
                <a:solidFill>
                  <a:srgbClr val="14202B"/>
                </a:solidFill>
                <a:latin typeface="Arial"/>
              </a:rPr>
              <a:t>If the easy fields were fudged, none of the hard toxicity values could be believed. Honest blanks are the credibility of the whole dataset.</a:t>
            </a:r>
          </a:p>
        </p:txBody>
      </p:sp>
      <p:sp>
        <p:nvSpPr>
          <p:cNvPr id="11" name="TextBox 10"/>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12" name="TextBox 11"/>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Sources researched</a:t>
            </a:r>
          </a:p>
        </p:txBody>
      </p:sp>
      <p:sp>
        <p:nvSpPr>
          <p:cNvPr id="4" name="TextBox 3"/>
          <p:cNvSpPr txBox="1"/>
          <p:nvPr/>
        </p:nvSpPr>
        <p:spPr>
          <a:xfrm>
            <a:off x="731520" y="1463040"/>
            <a:ext cx="5486400" cy="274320"/>
          </a:xfrm>
          <a:prstGeom prst="rect">
            <a:avLst/>
          </a:prstGeom>
          <a:noFill/>
        </p:spPr>
        <p:txBody>
          <a:bodyPr wrap="square" anchor="t" lIns="0" rIns="0" tIns="0" bIns="0">
            <a:spAutoFit/>
          </a:bodyPr>
          <a:lstStyle/>
          <a:p>
            <a:pPr algn="l">
              <a:lnSpc>
                <a:spcPct val="108000"/>
              </a:lnSpc>
            </a:pPr>
            <a:r>
              <a:rPr sz="1200" b="1">
                <a:solidFill>
                  <a:srgbClr val="17A2B8"/>
                </a:solidFill>
                <a:latin typeface="Arial"/>
              </a:rPr>
              <a:t>STRICT-KIDNEY PRIMARY (READ IN FULL)</a:t>
            </a:r>
          </a:p>
        </p:txBody>
      </p:sp>
      <p:sp>
        <p:nvSpPr>
          <p:cNvPr id="5" name="TextBox 4"/>
          <p:cNvSpPr txBox="1"/>
          <p:nvPr/>
        </p:nvSpPr>
        <p:spPr>
          <a:xfrm>
            <a:off x="731520" y="182880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Janssen 2019</a:t>
            </a:r>
            <a:r>
              <a:rPr sz="1500" b="0">
                <a:solidFill>
                  <a:srgbClr val="14202B"/>
                </a:solidFill>
                <a:latin typeface="Arial"/>
              </a:rPr>
              <a:t> · drisapersen, human kidney-cell injury (N2·10)</a:t>
            </a:r>
          </a:p>
        </p:txBody>
      </p:sp>
      <p:sp>
        <p:nvSpPr>
          <p:cNvPr id="6" name="TextBox 5"/>
          <p:cNvSpPr txBox="1"/>
          <p:nvPr/>
        </p:nvSpPr>
        <p:spPr>
          <a:xfrm>
            <a:off x="731520" y="246888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US 11,105,794 B2</a:t>
            </a:r>
            <a:r>
              <a:rPr sz="1500" b="0">
                <a:solidFill>
                  <a:srgbClr val="14202B"/>
                </a:solidFill>
                <a:latin typeface="Arial"/>
              </a:rPr>
              <a:t> · patent tox panel (N3·21)</a:t>
            </a:r>
          </a:p>
        </p:txBody>
      </p:sp>
      <p:sp>
        <p:nvSpPr>
          <p:cNvPr id="7" name="TextBox 6"/>
          <p:cNvSpPr txBox="1"/>
          <p:nvPr/>
        </p:nvSpPr>
        <p:spPr>
          <a:xfrm>
            <a:off x="731520" y="283464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Moisan 2017</a:t>
            </a:r>
            <a:r>
              <a:rPr sz="1500" b="0">
                <a:solidFill>
                  <a:srgbClr val="14202B"/>
                </a:solidFill>
                <a:latin typeface="Arial"/>
              </a:rPr>
              <a:t> · human tubule-cell panel (M1·11)</a:t>
            </a:r>
          </a:p>
        </p:txBody>
      </p:sp>
      <p:sp>
        <p:nvSpPr>
          <p:cNvPr id="8" name="TextBox 7"/>
          <p:cNvSpPr txBox="1"/>
          <p:nvPr/>
        </p:nvSpPr>
        <p:spPr>
          <a:xfrm>
            <a:off x="731520" y="320040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Sandelius 2020</a:t>
            </a:r>
            <a:r>
              <a:rPr sz="1500" b="0">
                <a:solidFill>
                  <a:srgbClr val="14202B"/>
                </a:solidFill>
                <a:latin typeface="Arial"/>
              </a:rPr>
              <a:t> · urine injury-biomarkers (K1·9)</a:t>
            </a:r>
          </a:p>
        </p:txBody>
      </p:sp>
      <p:sp>
        <p:nvSpPr>
          <p:cNvPr id="9" name="TextBox 8"/>
          <p:cNvSpPr txBox="1"/>
          <p:nvPr/>
        </p:nvSpPr>
        <p:spPr>
          <a:xfrm>
            <a:off x="731520" y="384048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van Poelgeest 2013</a:t>
            </a:r>
            <a:r>
              <a:rPr sz="1500" b="0">
                <a:solidFill>
                  <a:srgbClr val="14202B"/>
                </a:solidFill>
                <a:latin typeface="Arial"/>
              </a:rPr>
              <a:t> · SPC5001 first-in-human AKI (A3)</a:t>
            </a:r>
          </a:p>
        </p:txBody>
      </p:sp>
      <p:sp>
        <p:nvSpPr>
          <p:cNvPr id="10" name="TextBox 9"/>
          <p:cNvSpPr txBox="1"/>
          <p:nvPr/>
        </p:nvSpPr>
        <p:spPr>
          <a:xfrm>
            <a:off x="731520" y="448056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Arch Toxicol 2021</a:t>
            </a:r>
            <a:r>
              <a:rPr sz="1500" b="0">
                <a:solidFill>
                  <a:srgbClr val="14202B"/>
                </a:solidFill>
                <a:latin typeface="Arial"/>
              </a:rPr>
              <a:t> · SPC5001 kidney-on-chip (A4·5)</a:t>
            </a:r>
          </a:p>
        </p:txBody>
      </p:sp>
      <p:sp>
        <p:nvSpPr>
          <p:cNvPr id="11" name="TextBox 10"/>
          <p:cNvSpPr txBox="1"/>
          <p:nvPr/>
        </p:nvSpPr>
        <p:spPr>
          <a:xfrm>
            <a:off x="6309360" y="1463040"/>
            <a:ext cx="5486400" cy="274320"/>
          </a:xfrm>
          <a:prstGeom prst="rect">
            <a:avLst/>
          </a:prstGeom>
          <a:noFill/>
        </p:spPr>
        <p:txBody>
          <a:bodyPr wrap="square" anchor="t" lIns="0" rIns="0" tIns="0" bIns="0">
            <a:spAutoFit/>
          </a:bodyPr>
          <a:lstStyle/>
          <a:p>
            <a:pPr algn="l">
              <a:lnSpc>
                <a:spcPct val="108000"/>
              </a:lnSpc>
            </a:pPr>
            <a:r>
              <a:rPr sz="1200" b="1">
                <a:solidFill>
                  <a:srgbClr val="17A2B8"/>
                </a:solidFill>
                <a:latin typeface="Arial"/>
              </a:rPr>
              <a:t>ANCHORS · REVIEW · PATENTS</a:t>
            </a:r>
          </a:p>
        </p:txBody>
      </p:sp>
      <p:sp>
        <p:nvSpPr>
          <p:cNvPr id="12" name="TextBox 11"/>
          <p:cNvSpPr txBox="1"/>
          <p:nvPr/>
        </p:nvSpPr>
        <p:spPr>
          <a:xfrm>
            <a:off x="6309360" y="182880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Wu 2022</a:t>
            </a:r>
            <a:r>
              <a:rPr sz="1500" b="0">
                <a:solidFill>
                  <a:srgbClr val="14202B"/>
                </a:solidFill>
                <a:latin typeface="Arial"/>
              </a:rPr>
              <a:t> · marketed-ASO nephrotoxicity review (REV)</a:t>
            </a:r>
          </a:p>
        </p:txBody>
      </p:sp>
      <p:sp>
        <p:nvSpPr>
          <p:cNvPr id="13" name="TextBox 12"/>
          <p:cNvSpPr txBox="1"/>
          <p:nvPr/>
        </p:nvSpPr>
        <p:spPr>
          <a:xfrm>
            <a:off x="6309360" y="246888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inotersen</a:t>
            </a:r>
            <a:r>
              <a:rPr sz="1500" b="0">
                <a:solidFill>
                  <a:srgbClr val="14202B"/>
                </a:solidFill>
                <a:latin typeface="Arial"/>
              </a:rPr>
              <a:t> · NEJM + FDA label — severe anchor (A1)</a:t>
            </a:r>
          </a:p>
        </p:txBody>
      </p:sp>
      <p:sp>
        <p:nvSpPr>
          <p:cNvPr id="14" name="TextBox 13"/>
          <p:cNvSpPr txBox="1"/>
          <p:nvPr/>
        </p:nvSpPr>
        <p:spPr>
          <a:xfrm>
            <a:off x="6309360" y="310896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mipomersen, volanesorsen</a:t>
            </a:r>
            <a:r>
              <a:rPr sz="1500" b="0">
                <a:solidFill>
                  <a:srgbClr val="14202B"/>
                </a:solidFill>
                <a:latin typeface="Arial"/>
              </a:rPr>
              <a:t> · gapmer renal signals</a:t>
            </a:r>
          </a:p>
        </p:txBody>
      </p:sp>
      <p:sp>
        <p:nvSpPr>
          <p:cNvPr id="15" name="TextBox 14"/>
          <p:cNvSpPr txBox="1"/>
          <p:nvPr/>
        </p:nvSpPr>
        <p:spPr>
          <a:xfrm>
            <a:off x="6309360" y="374904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inclisiran, givosiran, nusinersen</a:t>
            </a:r>
            <a:r>
              <a:rPr sz="1500" b="0">
                <a:solidFill>
                  <a:srgbClr val="14202B"/>
                </a:solidFill>
                <a:latin typeface="Arial"/>
              </a:rPr>
              <a:t> · safe controls</a:t>
            </a:r>
          </a:p>
        </p:txBody>
      </p:sp>
      <p:sp>
        <p:nvSpPr>
          <p:cNvPr id="16" name="TextBox 15"/>
          <p:cNvSpPr txBox="1"/>
          <p:nvPr/>
        </p:nvSpPr>
        <p:spPr>
          <a:xfrm>
            <a:off x="6309360" y="4389120"/>
            <a:ext cx="5120640" cy="914400"/>
          </a:xfrm>
          <a:prstGeom prst="rect">
            <a:avLst/>
          </a:prstGeom>
          <a:noFill/>
        </p:spPr>
        <p:txBody>
          <a:bodyPr wrap="square" anchor="t" lIns="0" rIns="0" tIns="0" bIns="0">
            <a:spAutoFit/>
          </a:bodyPr>
          <a:lstStyle/>
          <a:p>
            <a:pPr algn="l">
              <a:lnSpc>
                <a:spcPct val="112000"/>
              </a:lnSpc>
            </a:pPr>
            <a:r>
              <a:rPr sz="1500" b="1">
                <a:solidFill>
                  <a:srgbClr val="17A2B8"/>
                </a:solidFill>
                <a:latin typeface="Arial"/>
              </a:rPr>
              <a:t>•  </a:t>
            </a:r>
            <a:r>
              <a:rPr sz="1500" b="1">
                <a:solidFill>
                  <a:srgbClr val="0E4D64"/>
                </a:solidFill>
                <a:latin typeface="Arial"/>
              </a:rPr>
              <a:t>US 11,479,818 B2</a:t>
            </a:r>
            <a:r>
              <a:rPr sz="1500" b="0">
                <a:solidFill>
                  <a:srgbClr val="14202B"/>
                </a:solidFill>
                <a:latin typeface="Arial"/>
              </a:rPr>
              <a:t> · 2nd patent, queued (N4)</a:t>
            </a:r>
          </a:p>
        </p:txBody>
      </p:sp>
      <p:sp>
        <p:nvSpPr>
          <p:cNvPr id="17" name="TextBox 16"/>
          <p:cNvSpPr txBox="1"/>
          <p:nvPr/>
        </p:nvSpPr>
        <p:spPr>
          <a:xfrm>
            <a:off x="731520" y="5212080"/>
            <a:ext cx="10698480" cy="822960"/>
          </a:xfrm>
          <a:prstGeom prst="rect">
            <a:avLst/>
          </a:prstGeom>
          <a:noFill/>
        </p:spPr>
        <p:txBody>
          <a:bodyPr wrap="square" anchor="t" lIns="0" rIns="0" tIns="0" bIns="0">
            <a:spAutoFit/>
          </a:bodyPr>
          <a:lstStyle/>
          <a:p>
            <a:pPr algn="l">
              <a:lnSpc>
                <a:spcPct val="112000"/>
              </a:lnSpc>
            </a:pPr>
            <a:r>
              <a:rPr sz="1400" b="1">
                <a:solidFill>
                  <a:srgbClr val="0E4D64"/>
                </a:solidFill>
                <a:latin typeface="Arial"/>
              </a:rPr>
              <a:t>+ 36 'WS' rows</a:t>
            </a:r>
            <a:r>
              <a:rPr sz="1400" b="0">
                <a:solidFill>
                  <a:srgbClr val="5A6B78"/>
                </a:solidFill>
                <a:latin typeface="Arial"/>
              </a:rPr>
              <a:t> from FDA/EMA labels &amp; pivotal trials: patisiran, vutrisiran, lumasiran, nedosiran, eplontersen, tofersen, bepirovirsen, olpasiran, the DMD PMOs, pegaptanib, fitusiran, zilebesiran — plus Crooke 2018 (human) &amp; Yu 2012 (monkey).</a:t>
            </a:r>
          </a:p>
        </p:txBody>
      </p:sp>
      <p:sp>
        <p:nvSpPr>
          <p:cNvPr id="18" name="TextBox 1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19" name="TextBox 1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9144000" cy="274320"/>
          </a:xfrm>
          <a:prstGeom prst="rect">
            <a:avLst/>
          </a:prstGeom>
          <a:noFill/>
        </p:spPr>
        <p:txBody>
          <a:bodyPr wrap="square" anchor="t" lIns="0" rIns="0" tIns="0" bIns="0">
            <a:spAutoFit/>
          </a:bodyPr>
          <a:lstStyle/>
          <a:p>
            <a:pPr algn="l">
              <a:lnSpc>
                <a:spcPct val="108000"/>
              </a:lnSpc>
            </a:pPr>
            <a:r>
              <a:rPr sz="1200" b="1">
                <a:solidFill>
                  <a:srgbClr val="7FD3E0"/>
                </a:solidFill>
                <a:latin typeface="Arial"/>
              </a:rPr>
              <a:t>PART 4</a:t>
            </a:r>
          </a:p>
        </p:txBody>
      </p:sp>
      <p:sp>
        <p:nvSpPr>
          <p:cNvPr id="4" name="Rectangle 3"/>
          <p:cNvSpPr/>
          <p:nvPr/>
        </p:nvSpPr>
        <p:spPr>
          <a:xfrm>
            <a:off x="822960" y="3063240"/>
            <a:ext cx="109728"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17520"/>
            <a:ext cx="10058400" cy="822960"/>
          </a:xfrm>
          <a:prstGeom prst="rect">
            <a:avLst/>
          </a:prstGeom>
          <a:noFill/>
        </p:spPr>
        <p:txBody>
          <a:bodyPr wrap="square" anchor="t" lIns="0" rIns="0" tIns="0" bIns="0">
            <a:spAutoFit/>
          </a:bodyPr>
          <a:lstStyle/>
          <a:p>
            <a:pPr algn="l">
              <a:lnSpc>
                <a:spcPct val="108000"/>
              </a:lnSpc>
            </a:pPr>
            <a:r>
              <a:rPr sz="4000" b="1">
                <a:solidFill>
                  <a:srgbClr val="FFFFFF"/>
                </a:solidFill>
                <a:latin typeface="Arial"/>
              </a:rPr>
              <a:t>What the data shows</a:t>
            </a:r>
          </a:p>
        </p:txBody>
      </p:sp>
      <p:sp>
        <p:nvSpPr>
          <p:cNvPr id="6" name="TextBox 5"/>
          <p:cNvSpPr txBox="1"/>
          <p:nvPr/>
        </p:nvSpPr>
        <p:spPr>
          <a:xfrm>
            <a:off x="1051560" y="3977639"/>
            <a:ext cx="10058400" cy="457200"/>
          </a:xfrm>
          <a:prstGeom prst="rect">
            <a:avLst/>
          </a:prstGeom>
          <a:noFill/>
        </p:spPr>
        <p:txBody>
          <a:bodyPr wrap="square" anchor="t" lIns="0" rIns="0" tIns="0" bIns="0">
            <a:spAutoFit/>
          </a:bodyPr>
          <a:lstStyle/>
          <a:p>
            <a:pPr algn="l">
              <a:lnSpc>
                <a:spcPct val="108000"/>
              </a:lnSpc>
            </a:pPr>
            <a:r>
              <a:rPr sz="2000" b="0">
                <a:solidFill>
                  <a:srgbClr val="CFE6EC"/>
                </a:solidFill>
                <a:latin typeface="Arial"/>
              </a:rPr>
              <a:t>Three findings worth a biochemistry expert's attention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Finding 1 — the 'invisible' injury, captured</a:t>
            </a:r>
          </a:p>
        </p:txBody>
      </p:sp>
      <p:pic>
        <p:nvPicPr>
          <p:cNvPr id="4" name="Picture 3" descr="paired.png"/>
          <p:cNvPicPr>
            <a:picLocks noChangeAspect="1"/>
          </p:cNvPicPr>
          <p:nvPr/>
        </p:nvPicPr>
        <p:blipFill>
          <a:blip r:embed="rId2"/>
          <a:stretch>
            <a:fillRect/>
          </a:stretch>
        </p:blipFill>
        <p:spPr>
          <a:xfrm>
            <a:off x="1158087" y="1417320"/>
            <a:ext cx="9875520" cy="3591098"/>
          </a:xfrm>
          <a:prstGeom prst="rect">
            <a:avLst/>
          </a:prstGeom>
        </p:spPr>
      </p:pic>
      <p:sp>
        <p:nvSpPr>
          <p:cNvPr id="5" name="Rounded Rectangle 4"/>
          <p:cNvSpPr/>
          <p:nvPr/>
        </p:nvSpPr>
        <p:spPr>
          <a:xfrm>
            <a:off x="731520" y="5145578"/>
            <a:ext cx="10725912" cy="68580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145578"/>
            <a:ext cx="82296"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255306"/>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For the same drug we store paired rows: a mild grade on the functional test, a clean grade on viability/tissue. Side by side they encode 'dysfunction without death'.</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Finding 2 — a patent unlocked sequence + toxicity together</a:t>
            </a:r>
          </a:p>
        </p:txBody>
      </p:sp>
      <p:pic>
        <p:nvPicPr>
          <p:cNvPr id="4" name="Picture 3" descr="patent.png"/>
          <p:cNvPicPr>
            <a:picLocks noChangeAspect="1"/>
          </p:cNvPicPr>
          <p:nvPr/>
        </p:nvPicPr>
        <p:blipFill>
          <a:blip r:embed="rId2"/>
          <a:stretch>
            <a:fillRect/>
          </a:stretch>
        </p:blipFill>
        <p:spPr>
          <a:xfrm>
            <a:off x="1158087" y="1417320"/>
            <a:ext cx="9875520" cy="3591098"/>
          </a:xfrm>
          <a:prstGeom prst="rect">
            <a:avLst/>
          </a:prstGeom>
        </p:spPr>
      </p:pic>
      <p:sp>
        <p:nvSpPr>
          <p:cNvPr id="5" name="Rounded Rectangle 4"/>
          <p:cNvSpPr/>
          <p:nvPr/>
        </p:nvSpPr>
        <p:spPr>
          <a:xfrm>
            <a:off x="731520" y="5145578"/>
            <a:ext cx="10725912" cy="68580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145578"/>
            <a:ext cx="82296"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255306"/>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Most sources give a sequence or a toxicity value. This public-domain patent table gave both in the same row for many oligos — the most model-ready slice, and it tripled sequence coverage.</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Finding 3 — animal tests over-predict human risk</a:t>
            </a:r>
          </a:p>
        </p:txBody>
      </p:sp>
      <p:pic>
        <p:nvPicPr>
          <p:cNvPr id="4" name="Picture 3" descr="translation.png"/>
          <p:cNvPicPr>
            <a:picLocks noChangeAspect="1"/>
          </p:cNvPicPr>
          <p:nvPr/>
        </p:nvPicPr>
        <p:blipFill>
          <a:blip r:embed="rId2"/>
          <a:stretch>
            <a:fillRect/>
          </a:stretch>
        </p:blipFill>
        <p:spPr>
          <a:xfrm>
            <a:off x="1158087" y="1417320"/>
            <a:ext cx="9875520" cy="3591098"/>
          </a:xfrm>
          <a:prstGeom prst="rect">
            <a:avLst/>
          </a:prstGeom>
        </p:spPr>
      </p:pic>
      <p:sp>
        <p:nvSpPr>
          <p:cNvPr id="5" name="Rounded Rectangle 4"/>
          <p:cNvSpPr/>
          <p:nvPr/>
        </p:nvSpPr>
        <p:spPr>
          <a:xfrm>
            <a:off x="731520" y="5145578"/>
            <a:ext cx="10725912" cy="68580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145578"/>
            <a:ext cx="82296"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255306"/>
            <a:ext cx="10241280" cy="502920"/>
          </a:xfrm>
          <a:prstGeom prst="rect">
            <a:avLst/>
          </a:prstGeom>
          <a:noFill/>
        </p:spPr>
        <p:txBody>
          <a:bodyPr wrap="square" anchor="t" lIns="0" rIns="0" tIns="0" bIns="0">
            <a:spAutoFit/>
          </a:bodyPr>
          <a:lstStyle/>
          <a:p>
            <a:pPr algn="l">
              <a:lnSpc>
                <a:spcPct val="110000"/>
              </a:lnSpc>
            </a:pPr>
            <a:r>
              <a:rPr sz="1500" b="0">
                <a:solidFill>
                  <a:srgbClr val="14202B"/>
                </a:solidFill>
                <a:latin typeface="Arial"/>
              </a:rPr>
              <a:t>A known, consistent bias for this class: animal kidneys look worse than patients turn out to be. We captured human and animal rows side by side so the gap can be modelled, not ignored.</a:t>
            </a:r>
          </a:p>
        </p:txBody>
      </p:sp>
      <p:sp>
        <p:nvSpPr>
          <p:cNvPr id="8" name="TextBox 7"/>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9" name="TextBox 8"/>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9144000" cy="274320"/>
          </a:xfrm>
          <a:prstGeom prst="rect">
            <a:avLst/>
          </a:prstGeom>
          <a:noFill/>
        </p:spPr>
        <p:txBody>
          <a:bodyPr wrap="square" anchor="t" lIns="0" rIns="0" tIns="0" bIns="0">
            <a:spAutoFit/>
          </a:bodyPr>
          <a:lstStyle/>
          <a:p>
            <a:pPr algn="l">
              <a:lnSpc>
                <a:spcPct val="108000"/>
              </a:lnSpc>
            </a:pPr>
            <a:r>
              <a:rPr sz="1200" b="1">
                <a:solidFill>
                  <a:srgbClr val="7FD3E0"/>
                </a:solidFill>
                <a:latin typeface="Arial"/>
              </a:rPr>
              <a:t>PART 5</a:t>
            </a:r>
          </a:p>
        </p:txBody>
      </p:sp>
      <p:sp>
        <p:nvSpPr>
          <p:cNvPr id="4" name="Rectangle 3"/>
          <p:cNvSpPr/>
          <p:nvPr/>
        </p:nvSpPr>
        <p:spPr>
          <a:xfrm>
            <a:off x="822960" y="3063240"/>
            <a:ext cx="109728" cy="68580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017520"/>
            <a:ext cx="10058400" cy="822960"/>
          </a:xfrm>
          <a:prstGeom prst="rect">
            <a:avLst/>
          </a:prstGeom>
          <a:noFill/>
        </p:spPr>
        <p:txBody>
          <a:bodyPr wrap="square" anchor="t" lIns="0" rIns="0" tIns="0" bIns="0">
            <a:spAutoFit/>
          </a:bodyPr>
          <a:lstStyle/>
          <a:p>
            <a:pPr algn="l">
              <a:lnSpc>
                <a:spcPct val="108000"/>
              </a:lnSpc>
            </a:pPr>
            <a:r>
              <a:rPr sz="4000" b="1">
                <a:solidFill>
                  <a:srgbClr val="FFFFFF"/>
                </a:solidFill>
                <a:latin typeface="Arial"/>
              </a:rPr>
              <a:t>Why it fits Phase 2 — and what's next</a:t>
            </a:r>
          </a:p>
        </p:txBody>
      </p:sp>
      <p:sp>
        <p:nvSpPr>
          <p:cNvPr id="6" name="TextBox 5"/>
          <p:cNvSpPr txBox="1"/>
          <p:nvPr/>
        </p:nvSpPr>
        <p:spPr>
          <a:xfrm>
            <a:off x="1051560" y="3977639"/>
            <a:ext cx="10058400" cy="457200"/>
          </a:xfrm>
          <a:prstGeom prst="rect">
            <a:avLst/>
          </a:prstGeom>
          <a:noFill/>
        </p:spPr>
        <p:txBody>
          <a:bodyPr wrap="square" anchor="t" lIns="0" rIns="0" tIns="0" bIns="0">
            <a:spAutoFit/>
          </a:bodyPr>
          <a:lstStyle/>
          <a:p>
            <a:pPr algn="l">
              <a:lnSpc>
                <a:spcPct val="108000"/>
              </a:lnSpc>
            </a:pPr>
            <a:r>
              <a:rPr sz="2000" b="0">
                <a:solidFill>
                  <a:srgbClr val="CFE6EC"/>
                </a:solidFill>
                <a:latin typeface="Arial"/>
              </a:rPr>
              <a:t>Judging criteria, trust, limitations, and the ask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Built for the four Phase-2 judging criteria</a:t>
            </a:r>
          </a:p>
        </p:txBody>
      </p:sp>
      <p:sp>
        <p:nvSpPr>
          <p:cNvPr id="4" name="Rounded Rectangle 3"/>
          <p:cNvSpPr/>
          <p:nvPr/>
        </p:nvSpPr>
        <p:spPr>
          <a:xfrm>
            <a:off x="731520" y="1554480"/>
            <a:ext cx="5285232"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82296" cy="17373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700784"/>
            <a:ext cx="4892040" cy="365760"/>
          </a:xfrm>
          <a:prstGeom prst="rect">
            <a:avLst/>
          </a:prstGeom>
          <a:noFill/>
        </p:spPr>
        <p:txBody>
          <a:bodyPr wrap="square" anchor="t" lIns="0" rIns="0" tIns="0" bIns="0">
            <a:spAutoFit/>
          </a:bodyPr>
          <a:lstStyle/>
          <a:p>
            <a:pPr algn="l">
              <a:lnSpc>
                <a:spcPct val="108000"/>
              </a:lnSpc>
            </a:pPr>
            <a:r>
              <a:rPr sz="1700" b="1">
                <a:solidFill>
                  <a:srgbClr val="0E4D64"/>
                </a:solidFill>
                <a:latin typeface="Arial"/>
              </a:rPr>
              <a:t>1 · Ability to solve</a:t>
            </a:r>
          </a:p>
        </p:txBody>
      </p:sp>
      <p:sp>
        <p:nvSpPr>
          <p:cNvPr id="7" name="TextBox 6"/>
          <p:cNvSpPr txBox="1"/>
          <p:nvPr/>
        </p:nvSpPr>
        <p:spPr>
          <a:xfrm>
            <a:off x="987552" y="2121408"/>
            <a:ext cx="4892040" cy="1097280"/>
          </a:xfrm>
          <a:prstGeom prst="rect">
            <a:avLst/>
          </a:prstGeom>
          <a:noFill/>
        </p:spPr>
        <p:txBody>
          <a:bodyPr wrap="square" anchor="t" lIns="0" rIns="0" tIns="0" bIns="0">
            <a:spAutoFit/>
          </a:bodyPr>
          <a:lstStyle/>
          <a:p>
            <a:pPr algn="l">
              <a:lnSpc>
                <a:spcPct val="112000"/>
              </a:lnSpc>
            </a:pPr>
            <a:r>
              <a:rPr sz="1350" b="0">
                <a:solidFill>
                  <a:srgbClr val="14202B"/>
                </a:solidFill>
                <a:latin typeface="Arial"/>
              </a:rPr>
              <a:t>A model-ready design — sequence + chemistry predictors vs. graded, per-condition kidney outcomes; the patent panel even puts sequence AND toxicity in one row.</a:t>
            </a:r>
          </a:p>
        </p:txBody>
      </p:sp>
      <p:sp>
        <p:nvSpPr>
          <p:cNvPr id="8" name="Rounded Rectangle 7"/>
          <p:cNvSpPr/>
          <p:nvPr/>
        </p:nvSpPr>
        <p:spPr>
          <a:xfrm>
            <a:off x="6172200" y="1554480"/>
            <a:ext cx="5285232"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554480"/>
            <a:ext cx="82296" cy="17373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1700784"/>
            <a:ext cx="4892040" cy="365760"/>
          </a:xfrm>
          <a:prstGeom prst="rect">
            <a:avLst/>
          </a:prstGeom>
          <a:noFill/>
        </p:spPr>
        <p:txBody>
          <a:bodyPr wrap="square" anchor="t" lIns="0" rIns="0" tIns="0" bIns="0">
            <a:spAutoFit/>
          </a:bodyPr>
          <a:lstStyle/>
          <a:p>
            <a:pPr algn="l">
              <a:lnSpc>
                <a:spcPct val="108000"/>
              </a:lnSpc>
            </a:pPr>
            <a:r>
              <a:rPr sz="1700" b="1">
                <a:solidFill>
                  <a:srgbClr val="0E4D64"/>
                </a:solidFill>
                <a:latin typeface="Arial"/>
              </a:rPr>
              <a:t>2 · Potential impact</a:t>
            </a:r>
          </a:p>
        </p:txBody>
      </p:sp>
      <p:sp>
        <p:nvSpPr>
          <p:cNvPr id="11" name="TextBox 10"/>
          <p:cNvSpPr txBox="1"/>
          <p:nvPr/>
        </p:nvSpPr>
        <p:spPr>
          <a:xfrm>
            <a:off x="6428232" y="2121408"/>
            <a:ext cx="4892040" cy="1097280"/>
          </a:xfrm>
          <a:prstGeom prst="rect">
            <a:avLst/>
          </a:prstGeom>
          <a:noFill/>
        </p:spPr>
        <p:txBody>
          <a:bodyPr wrap="square" anchor="t" lIns="0" rIns="0" tIns="0" bIns="0">
            <a:spAutoFit/>
          </a:bodyPr>
          <a:lstStyle/>
          <a:p>
            <a:pPr algn="l">
              <a:lnSpc>
                <a:spcPct val="112000"/>
              </a:lnSpc>
            </a:pPr>
            <a:r>
              <a:rPr sz="1350" b="0">
                <a:solidFill>
                  <a:srgbClr val="14202B"/>
                </a:solidFill>
                <a:latin typeface="Arial"/>
              </a:rPr>
              <a:t>Fills a real public-domain gap: most open oligo-tox data is hepatic — kidney is thin. First open set linking design to graded nephrotoxicity, incl. the functional phenotype.</a:t>
            </a:r>
          </a:p>
        </p:txBody>
      </p:sp>
      <p:sp>
        <p:nvSpPr>
          <p:cNvPr id="12" name="Rounded Rectangle 11"/>
          <p:cNvSpPr/>
          <p:nvPr/>
        </p:nvSpPr>
        <p:spPr>
          <a:xfrm>
            <a:off x="731520" y="3429000"/>
            <a:ext cx="5285232"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429000"/>
            <a:ext cx="82296" cy="17373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3575304"/>
            <a:ext cx="4892040" cy="365760"/>
          </a:xfrm>
          <a:prstGeom prst="rect">
            <a:avLst/>
          </a:prstGeom>
          <a:noFill/>
        </p:spPr>
        <p:txBody>
          <a:bodyPr wrap="square" anchor="t" lIns="0" rIns="0" tIns="0" bIns="0">
            <a:spAutoFit/>
          </a:bodyPr>
          <a:lstStyle/>
          <a:p>
            <a:pPr algn="l">
              <a:lnSpc>
                <a:spcPct val="108000"/>
              </a:lnSpc>
            </a:pPr>
            <a:r>
              <a:rPr sz="1700" b="1">
                <a:solidFill>
                  <a:srgbClr val="0E4D64"/>
                </a:solidFill>
                <a:latin typeface="Arial"/>
              </a:rPr>
              <a:t>3 · Feasibility &amp; rigor</a:t>
            </a:r>
          </a:p>
        </p:txBody>
      </p:sp>
      <p:sp>
        <p:nvSpPr>
          <p:cNvPr id="15" name="TextBox 14"/>
          <p:cNvSpPr txBox="1"/>
          <p:nvPr/>
        </p:nvSpPr>
        <p:spPr>
          <a:xfrm>
            <a:off x="987552" y="3995928"/>
            <a:ext cx="4892040" cy="1097280"/>
          </a:xfrm>
          <a:prstGeom prst="rect">
            <a:avLst/>
          </a:prstGeom>
          <a:noFill/>
        </p:spPr>
        <p:txBody>
          <a:bodyPr wrap="square" anchor="t" lIns="0" rIns="0" tIns="0" bIns="0">
            <a:spAutoFit/>
          </a:bodyPr>
          <a:lstStyle/>
          <a:p>
            <a:pPr algn="l">
              <a:lnSpc>
                <a:spcPct val="112000"/>
              </a:lnSpc>
            </a:pPr>
            <a:r>
              <a:rPr sz="1350" b="0">
                <a:solidFill>
                  <a:srgbClr val="14202B"/>
                </a:solidFill>
                <a:latin typeface="Arial"/>
              </a:rPr>
              <a:t>Strict no-fabrication, per-row provenance, controlled vocabularies and automated QC (0 orphans) — a set researchers can trust and reuse on release.</a:t>
            </a:r>
          </a:p>
        </p:txBody>
      </p:sp>
      <p:sp>
        <p:nvSpPr>
          <p:cNvPr id="16" name="Rounded Rectangle 15"/>
          <p:cNvSpPr/>
          <p:nvPr/>
        </p:nvSpPr>
        <p:spPr>
          <a:xfrm>
            <a:off x="6172200" y="3429000"/>
            <a:ext cx="5285232" cy="173736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3429000"/>
            <a:ext cx="82296" cy="173736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3575304"/>
            <a:ext cx="4892040" cy="365760"/>
          </a:xfrm>
          <a:prstGeom prst="rect">
            <a:avLst/>
          </a:prstGeom>
          <a:noFill/>
        </p:spPr>
        <p:txBody>
          <a:bodyPr wrap="square" anchor="t" lIns="0" rIns="0" tIns="0" bIns="0">
            <a:spAutoFit/>
          </a:bodyPr>
          <a:lstStyle/>
          <a:p>
            <a:pPr algn="l">
              <a:lnSpc>
                <a:spcPct val="108000"/>
              </a:lnSpc>
            </a:pPr>
            <a:r>
              <a:rPr sz="1700" b="1">
                <a:solidFill>
                  <a:srgbClr val="0E4D64"/>
                </a:solidFill>
                <a:latin typeface="Arial"/>
              </a:rPr>
              <a:t>4 · Transparency &amp; reproducibility</a:t>
            </a:r>
          </a:p>
        </p:txBody>
      </p:sp>
      <p:sp>
        <p:nvSpPr>
          <p:cNvPr id="19" name="TextBox 18"/>
          <p:cNvSpPr txBox="1"/>
          <p:nvPr/>
        </p:nvSpPr>
        <p:spPr>
          <a:xfrm>
            <a:off x="6428232" y="3995928"/>
            <a:ext cx="4892040" cy="1097280"/>
          </a:xfrm>
          <a:prstGeom prst="rect">
            <a:avLst/>
          </a:prstGeom>
          <a:noFill/>
        </p:spPr>
        <p:txBody>
          <a:bodyPr wrap="square" anchor="t" lIns="0" rIns="0" tIns="0" bIns="0">
            <a:spAutoFit/>
          </a:bodyPr>
          <a:lstStyle/>
          <a:p>
            <a:pPr algn="l">
              <a:lnSpc>
                <a:spcPct val="112000"/>
              </a:lnSpc>
            </a:pPr>
            <a:r>
              <a:rPr sz="1350" b="0">
                <a:solidFill>
                  <a:srgbClr val="14202B"/>
                </a:solidFill>
                <a:latin typeface="Arial"/>
              </a:rPr>
              <a:t>Open license (CC-BY) intended; every value traceable to source; all stats regenerate from data/ — FAIR, aligned to NIH data-sharing.</a:t>
            </a:r>
          </a:p>
        </p:txBody>
      </p:sp>
      <p:sp>
        <p:nvSpPr>
          <p:cNvPr id="20" name="TextBox 19"/>
          <p:cNvSpPr txBox="1"/>
          <p:nvPr/>
        </p:nvSpPr>
        <p:spPr>
          <a:xfrm>
            <a:off x="731520" y="5349240"/>
            <a:ext cx="10698480" cy="457200"/>
          </a:xfrm>
          <a:prstGeom prst="rect">
            <a:avLst/>
          </a:prstGeom>
          <a:noFill/>
        </p:spPr>
        <p:txBody>
          <a:bodyPr wrap="square" anchor="t" lIns="0" rIns="0" tIns="0" bIns="0">
            <a:spAutoFit/>
          </a:bodyPr>
          <a:lstStyle/>
          <a:p>
            <a:pPr algn="l">
              <a:lnSpc>
                <a:spcPct val="108000"/>
              </a:lnSpc>
            </a:pPr>
            <a:r>
              <a:rPr sz="1350" b="0">
                <a:solidFill>
                  <a:srgbClr val="5A6B78"/>
                </a:solidFill>
                <a:latin typeface="Arial"/>
              </a:rPr>
              <a:t>NCATS's four Phase-2 confidence factors — the dataset was </a:t>
            </a:r>
            <a:r>
              <a:rPr sz="1350" b="1">
                <a:solidFill>
                  <a:srgbClr val="0E4D64"/>
                </a:solidFill>
                <a:latin typeface="Arial"/>
              </a:rPr>
              <a:t>designed against them, not retro-fitted</a:t>
            </a:r>
            <a:r>
              <a:rPr sz="1350" b="0">
                <a:solidFill>
                  <a:srgbClr val="5A6B78"/>
                </a:solidFill>
                <a:latin typeface="Arial"/>
              </a:rPr>
              <a:t>. Submission window 1 May – 31 Dec 2026.</a:t>
            </a:r>
          </a:p>
        </p:txBody>
      </p:sp>
      <p:sp>
        <p:nvSpPr>
          <p:cNvPr id="21" name="TextBox 20"/>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22" name="TextBox 21"/>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Mapped to Phase-2's technical scoring rubric</a:t>
            </a:r>
          </a:p>
        </p:txBody>
      </p:sp>
      <p:sp>
        <p:nvSpPr>
          <p:cNvPr id="4" name="Rounded Rectangle 3"/>
          <p:cNvSpPr/>
          <p:nvPr/>
        </p:nvSpPr>
        <p:spPr>
          <a:xfrm>
            <a:off x="731520" y="1508760"/>
            <a:ext cx="10725912" cy="141732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08760"/>
            <a:ext cx="82296" cy="141732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36776"/>
            <a:ext cx="7772400" cy="365760"/>
          </a:xfrm>
          <a:prstGeom prst="rect">
            <a:avLst/>
          </a:prstGeom>
          <a:noFill/>
        </p:spPr>
        <p:txBody>
          <a:bodyPr wrap="square" anchor="t" lIns="0" rIns="0" tIns="0" bIns="0">
            <a:spAutoFit/>
          </a:bodyPr>
          <a:lstStyle/>
          <a:p>
            <a:pPr algn="l">
              <a:lnSpc>
                <a:spcPct val="108000"/>
              </a:lnSpc>
            </a:pPr>
            <a:r>
              <a:rPr sz="1700" b="1">
                <a:solidFill>
                  <a:srgbClr val="0E4D64"/>
                </a:solidFill>
                <a:latin typeface="Arial"/>
              </a:rPr>
              <a:t>Experimental design</a:t>
            </a:r>
          </a:p>
        </p:txBody>
      </p:sp>
      <p:sp>
        <p:nvSpPr>
          <p:cNvPr id="7" name="Rounded Rectangle 6"/>
          <p:cNvSpPr/>
          <p:nvPr/>
        </p:nvSpPr>
        <p:spPr>
          <a:xfrm>
            <a:off x="10195560" y="1655063"/>
            <a:ext cx="1051560" cy="384048"/>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95560" y="1691639"/>
            <a:ext cx="1051560" cy="310896"/>
          </a:xfrm>
          <a:prstGeom prst="rect">
            <a:avLst/>
          </a:prstGeom>
          <a:noFill/>
        </p:spPr>
        <p:txBody>
          <a:bodyPr wrap="square" anchor="t" lIns="0" rIns="0" tIns="0" bIns="0">
            <a:spAutoFit/>
          </a:bodyPr>
          <a:lstStyle/>
          <a:p>
            <a:pPr algn="ctr">
              <a:lnSpc>
                <a:spcPct val="108000"/>
              </a:lnSpc>
            </a:pPr>
            <a:r>
              <a:rPr sz="1300" b="1">
                <a:solidFill>
                  <a:srgbClr val="FFFFFF"/>
                </a:solidFill>
                <a:latin typeface="Arial"/>
              </a:rPr>
              <a:t>20 pts</a:t>
            </a:r>
          </a:p>
        </p:txBody>
      </p:sp>
      <p:sp>
        <p:nvSpPr>
          <p:cNvPr id="9" name="TextBox 8"/>
          <p:cNvSpPr txBox="1"/>
          <p:nvPr/>
        </p:nvSpPr>
        <p:spPr>
          <a:xfrm>
            <a:off x="1005840" y="2057400"/>
            <a:ext cx="10058400" cy="822960"/>
          </a:xfrm>
          <a:prstGeom prst="rect">
            <a:avLst/>
          </a:prstGeom>
          <a:noFill/>
        </p:spPr>
        <p:txBody>
          <a:bodyPr wrap="square" anchor="t" lIns="0" rIns="0" tIns="0" bIns="0">
            <a:spAutoFit/>
          </a:bodyPr>
          <a:lstStyle/>
          <a:p>
            <a:pPr algn="l">
              <a:lnSpc>
                <a:spcPct val="110000"/>
              </a:lnSpc>
            </a:pPr>
            <a:r>
              <a:rPr sz="1350" b="0">
                <a:solidFill>
                  <a:srgbClr val="14202B"/>
                </a:solidFill>
                <a:latin typeface="Arial"/>
              </a:rPr>
              <a:t>Controls built in — 27 grade-0 negative controls and severe positive anchors (inotersen GN, SPC5001 AKI), plus within-compound functional-positive / structural-negative pairs. Source-study replicates stay traceable through per-row provenance.</a:t>
            </a:r>
          </a:p>
        </p:txBody>
      </p:sp>
      <p:sp>
        <p:nvSpPr>
          <p:cNvPr id="10" name="Rounded Rectangle 9"/>
          <p:cNvSpPr/>
          <p:nvPr/>
        </p:nvSpPr>
        <p:spPr>
          <a:xfrm>
            <a:off x="731520" y="3063239"/>
            <a:ext cx="10725912" cy="141732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063239"/>
            <a:ext cx="82296" cy="141732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91256"/>
            <a:ext cx="7772400" cy="365760"/>
          </a:xfrm>
          <a:prstGeom prst="rect">
            <a:avLst/>
          </a:prstGeom>
          <a:noFill/>
        </p:spPr>
        <p:txBody>
          <a:bodyPr wrap="square" anchor="t" lIns="0" rIns="0" tIns="0" bIns="0">
            <a:spAutoFit/>
          </a:bodyPr>
          <a:lstStyle/>
          <a:p>
            <a:pPr algn="l">
              <a:lnSpc>
                <a:spcPct val="108000"/>
              </a:lnSpc>
            </a:pPr>
            <a:r>
              <a:rPr sz="1700" b="1">
                <a:solidFill>
                  <a:srgbClr val="0E4D64"/>
                </a:solidFill>
                <a:latin typeface="Arial"/>
              </a:rPr>
              <a:t>Data translatability</a:t>
            </a:r>
          </a:p>
        </p:txBody>
      </p:sp>
      <p:sp>
        <p:nvSpPr>
          <p:cNvPr id="13" name="Rounded Rectangle 12"/>
          <p:cNvSpPr/>
          <p:nvPr/>
        </p:nvSpPr>
        <p:spPr>
          <a:xfrm>
            <a:off x="10195560" y="3209544"/>
            <a:ext cx="1051560" cy="384048"/>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95560" y="3246120"/>
            <a:ext cx="1051560" cy="310896"/>
          </a:xfrm>
          <a:prstGeom prst="rect">
            <a:avLst/>
          </a:prstGeom>
          <a:noFill/>
        </p:spPr>
        <p:txBody>
          <a:bodyPr wrap="square" anchor="t" lIns="0" rIns="0" tIns="0" bIns="0">
            <a:spAutoFit/>
          </a:bodyPr>
          <a:lstStyle/>
          <a:p>
            <a:pPr algn="ctr">
              <a:lnSpc>
                <a:spcPct val="108000"/>
              </a:lnSpc>
            </a:pPr>
            <a:r>
              <a:rPr sz="1300" b="1">
                <a:solidFill>
                  <a:srgbClr val="FFFFFF"/>
                </a:solidFill>
                <a:latin typeface="Arial"/>
              </a:rPr>
              <a:t>20 pts</a:t>
            </a:r>
          </a:p>
        </p:txBody>
      </p:sp>
      <p:sp>
        <p:nvSpPr>
          <p:cNvPr id="15" name="TextBox 14"/>
          <p:cNvSpPr txBox="1"/>
          <p:nvPr/>
        </p:nvSpPr>
        <p:spPr>
          <a:xfrm>
            <a:off x="1005840" y="3611879"/>
            <a:ext cx="10058400" cy="822960"/>
          </a:xfrm>
          <a:prstGeom prst="rect">
            <a:avLst/>
          </a:prstGeom>
          <a:noFill/>
        </p:spPr>
        <p:txBody>
          <a:bodyPr wrap="square" anchor="t" lIns="0" rIns="0" tIns="0" bIns="0">
            <a:spAutoFit/>
          </a:bodyPr>
          <a:lstStyle/>
          <a:p>
            <a:pPr algn="l">
              <a:lnSpc>
                <a:spcPct val="110000"/>
              </a:lnSpc>
            </a:pPr>
            <a:r>
              <a:rPr sz="1350" b="0">
                <a:solidFill>
                  <a:srgbClr val="14202B"/>
                </a:solidFill>
                <a:latin typeface="Arial"/>
              </a:rPr>
              <a:t>Built for modeling — explicit predictor variables (sequence, chemistry, backbone, gapmer design, conjugate) against graded toxicity indicators; 7 modalities, full 0–3 range; captures functional-not-cytotoxic + the animal→human gap.</a:t>
            </a:r>
          </a:p>
        </p:txBody>
      </p:sp>
      <p:sp>
        <p:nvSpPr>
          <p:cNvPr id="16" name="Rounded Rectangle 15"/>
          <p:cNvSpPr/>
          <p:nvPr/>
        </p:nvSpPr>
        <p:spPr>
          <a:xfrm>
            <a:off x="731520" y="4617720"/>
            <a:ext cx="10725912" cy="141732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617720"/>
            <a:ext cx="82296" cy="141732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745736"/>
            <a:ext cx="7772400" cy="365760"/>
          </a:xfrm>
          <a:prstGeom prst="rect">
            <a:avLst/>
          </a:prstGeom>
          <a:noFill/>
        </p:spPr>
        <p:txBody>
          <a:bodyPr wrap="square" anchor="t" lIns="0" rIns="0" tIns="0" bIns="0">
            <a:spAutoFit/>
          </a:bodyPr>
          <a:lstStyle/>
          <a:p>
            <a:pPr algn="l">
              <a:lnSpc>
                <a:spcPct val="108000"/>
              </a:lnSpc>
            </a:pPr>
            <a:r>
              <a:rPr sz="1700" b="1">
                <a:solidFill>
                  <a:srgbClr val="0E4D64"/>
                </a:solidFill>
                <a:latin typeface="Arial"/>
              </a:rPr>
              <a:t>Dataset management &amp; documentation</a:t>
            </a:r>
          </a:p>
        </p:txBody>
      </p:sp>
      <p:sp>
        <p:nvSpPr>
          <p:cNvPr id="19" name="Rounded Rectangle 18"/>
          <p:cNvSpPr/>
          <p:nvPr/>
        </p:nvSpPr>
        <p:spPr>
          <a:xfrm>
            <a:off x="10195560" y="4764024"/>
            <a:ext cx="1051560" cy="384048"/>
          </a:xfrm>
          <a:prstGeom prst="round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4800600"/>
            <a:ext cx="1051560" cy="310896"/>
          </a:xfrm>
          <a:prstGeom prst="rect">
            <a:avLst/>
          </a:prstGeom>
          <a:noFill/>
        </p:spPr>
        <p:txBody>
          <a:bodyPr wrap="square" anchor="t" lIns="0" rIns="0" tIns="0" bIns="0">
            <a:spAutoFit/>
          </a:bodyPr>
          <a:lstStyle/>
          <a:p>
            <a:pPr algn="ctr">
              <a:lnSpc>
                <a:spcPct val="108000"/>
              </a:lnSpc>
            </a:pPr>
            <a:r>
              <a:rPr sz="1300" b="1">
                <a:solidFill>
                  <a:srgbClr val="FFFFFF"/>
                </a:solidFill>
                <a:latin typeface="Arial"/>
              </a:rPr>
              <a:t>10 pts</a:t>
            </a:r>
          </a:p>
        </p:txBody>
      </p:sp>
      <p:sp>
        <p:nvSpPr>
          <p:cNvPr id="21" name="TextBox 20"/>
          <p:cNvSpPr txBox="1"/>
          <p:nvPr/>
        </p:nvSpPr>
        <p:spPr>
          <a:xfrm>
            <a:off x="1005840" y="5166359"/>
            <a:ext cx="10058400" cy="822960"/>
          </a:xfrm>
          <a:prstGeom prst="rect">
            <a:avLst/>
          </a:prstGeom>
          <a:noFill/>
        </p:spPr>
        <p:txBody>
          <a:bodyPr wrap="square" anchor="t" lIns="0" rIns="0" tIns="0" bIns="0">
            <a:spAutoFit/>
          </a:bodyPr>
          <a:lstStyle/>
          <a:p>
            <a:pPr algn="l">
              <a:lnSpc>
                <a:spcPct val="110000"/>
              </a:lnSpc>
            </a:pPr>
            <a:r>
              <a:rPr sz="1350" b="0">
                <a:solidFill>
                  <a:srgbClr val="14202B"/>
                </a:solidFill>
                <a:latin typeface="Arial"/>
              </a:rPr>
              <a:t>FAIR by construction — stable IDs, open CSV + CC-BY, controlled vocabularies (common data elements), a full data dictionary, per-row provenance, automated QC. A Public Access &amp; Dissemination Plan (PADP.md) accompanies the submission.</a:t>
            </a:r>
          </a:p>
        </p:txBody>
      </p:sp>
      <p:sp>
        <p:nvSpPr>
          <p:cNvPr id="22" name="TextBox 21"/>
          <p:cNvSpPr txBox="1"/>
          <p:nvPr/>
        </p:nvSpPr>
        <p:spPr>
          <a:xfrm>
            <a:off x="731520" y="6190488"/>
            <a:ext cx="10698480" cy="365760"/>
          </a:xfrm>
          <a:prstGeom prst="rect">
            <a:avLst/>
          </a:prstGeom>
          <a:noFill/>
        </p:spPr>
        <p:txBody>
          <a:bodyPr wrap="square" anchor="t" lIns="0" rIns="0" tIns="0" bIns="0">
            <a:spAutoFit/>
          </a:bodyPr>
          <a:lstStyle/>
          <a:p>
            <a:pPr algn="l">
              <a:lnSpc>
                <a:spcPct val="108000"/>
              </a:lnSpc>
            </a:pPr>
            <a:r>
              <a:rPr sz="1350" b="0">
                <a:solidFill>
                  <a:srgbClr val="5A6B78"/>
                </a:solidFill>
                <a:latin typeface="Arial"/>
              </a:rPr>
              <a:t>The Evaluation Panel's technical criteria (≈50 pts shown) — complementing the four judging factors.</a:t>
            </a:r>
          </a:p>
        </p:txBody>
      </p:sp>
      <p:sp>
        <p:nvSpPr>
          <p:cNvPr id="23" name="TextBox 22"/>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24" name="TextBox 23"/>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Every row is defensible</a:t>
            </a:r>
          </a:p>
        </p:txBody>
      </p:sp>
      <p:sp>
        <p:nvSpPr>
          <p:cNvPr id="4" name="TextBox 3"/>
          <p:cNvSpPr txBox="1"/>
          <p:nvPr/>
        </p:nvSpPr>
        <p:spPr>
          <a:xfrm>
            <a:off x="731520" y="1554480"/>
            <a:ext cx="5486400" cy="274320"/>
          </a:xfrm>
          <a:prstGeom prst="rect">
            <a:avLst/>
          </a:prstGeom>
          <a:noFill/>
        </p:spPr>
        <p:txBody>
          <a:bodyPr wrap="square" anchor="t" lIns="0" rIns="0" tIns="0" bIns="0">
            <a:spAutoFit/>
          </a:bodyPr>
          <a:lstStyle/>
          <a:p>
            <a:pPr algn="l">
              <a:lnSpc>
                <a:spcPct val="108000"/>
              </a:lnSpc>
            </a:pPr>
            <a:r>
              <a:rPr sz="1200" b="1">
                <a:solidFill>
                  <a:srgbClr val="17A2B8"/>
                </a:solidFill>
                <a:latin typeface="Arial"/>
              </a:rPr>
              <a:t>PROVENANCE — THE PAPER TRAIL</a:t>
            </a:r>
          </a:p>
        </p:txBody>
      </p:sp>
      <p:sp>
        <p:nvSpPr>
          <p:cNvPr id="5" name="TextBox 4"/>
          <p:cNvSpPr txBox="1"/>
          <p:nvPr/>
        </p:nvSpPr>
        <p:spPr>
          <a:xfrm>
            <a:off x="731520" y="1920240"/>
            <a:ext cx="5029200" cy="1280160"/>
          </a:xfrm>
          <a:prstGeom prst="rect">
            <a:avLst/>
          </a:prstGeom>
          <a:noFill/>
        </p:spPr>
        <p:txBody>
          <a:bodyPr wrap="square" anchor="t" lIns="0" rIns="0" tIns="0" bIns="0">
            <a:spAutoFit/>
          </a:bodyPr>
          <a:lstStyle/>
          <a:p>
            <a:pPr algn="l">
              <a:lnSpc>
                <a:spcPct val="115000"/>
              </a:lnSpc>
            </a:pPr>
            <a:r>
              <a:rPr sz="1600" b="0">
                <a:solidFill>
                  <a:srgbClr val="14202B"/>
                </a:solidFill>
                <a:latin typeface="Arial"/>
              </a:rPr>
              <a:t>Each measurement carries its source, the exact table/figure/claim, and its redistribution right, so any value can be re-checked at its origin.</a:t>
            </a:r>
          </a:p>
        </p:txBody>
      </p:sp>
      <p:sp>
        <p:nvSpPr>
          <p:cNvPr id="6" name="Rounded Rectangle 5"/>
          <p:cNvSpPr/>
          <p:nvPr/>
        </p:nvSpPr>
        <p:spPr>
          <a:xfrm>
            <a:off x="731520" y="3383280"/>
            <a:ext cx="1691640" cy="45720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474720"/>
            <a:ext cx="1691640" cy="320040"/>
          </a:xfrm>
          <a:prstGeom prst="rect">
            <a:avLst/>
          </a:prstGeom>
          <a:noFill/>
        </p:spPr>
        <p:txBody>
          <a:bodyPr wrap="square" anchor="t" lIns="0" rIns="0" tIns="0" bIns="0">
            <a:spAutoFit/>
          </a:bodyPr>
          <a:lstStyle/>
          <a:p>
            <a:pPr algn="ctr">
              <a:lnSpc>
                <a:spcPct val="108000"/>
              </a:lnSpc>
            </a:pPr>
            <a:r>
              <a:rPr sz="1300" b="1">
                <a:solidFill>
                  <a:srgbClr val="0E4D64"/>
                </a:solidFill>
                <a:latin typeface="Arial"/>
              </a:rPr>
              <a:t>47 public-domain rows</a:t>
            </a:r>
          </a:p>
        </p:txBody>
      </p:sp>
      <p:sp>
        <p:nvSpPr>
          <p:cNvPr id="8" name="Rounded Rectangle 7"/>
          <p:cNvSpPr/>
          <p:nvPr/>
        </p:nvSpPr>
        <p:spPr>
          <a:xfrm>
            <a:off x="2514600" y="3383280"/>
            <a:ext cx="1691640" cy="45720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4600" y="3474720"/>
            <a:ext cx="1691640" cy="320040"/>
          </a:xfrm>
          <a:prstGeom prst="rect">
            <a:avLst/>
          </a:prstGeom>
          <a:noFill/>
        </p:spPr>
        <p:txBody>
          <a:bodyPr wrap="square" anchor="t" lIns="0" rIns="0" tIns="0" bIns="0">
            <a:spAutoFit/>
          </a:bodyPr>
          <a:lstStyle/>
          <a:p>
            <a:pPr algn="ctr">
              <a:lnSpc>
                <a:spcPct val="108000"/>
              </a:lnSpc>
            </a:pPr>
            <a:r>
              <a:rPr sz="1300" b="1">
                <a:solidFill>
                  <a:srgbClr val="0E4D64"/>
                </a:solidFill>
                <a:latin typeface="Arial"/>
              </a:rPr>
              <a:t>64 summary-stat rows</a:t>
            </a:r>
          </a:p>
        </p:txBody>
      </p:sp>
      <p:sp>
        <p:nvSpPr>
          <p:cNvPr id="10" name="Rounded Rectangle 9"/>
          <p:cNvSpPr/>
          <p:nvPr/>
        </p:nvSpPr>
        <p:spPr>
          <a:xfrm>
            <a:off x="4297680" y="3383280"/>
            <a:ext cx="1691640" cy="45720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3474720"/>
            <a:ext cx="1691640" cy="320040"/>
          </a:xfrm>
          <a:prstGeom prst="rect">
            <a:avLst/>
          </a:prstGeom>
          <a:noFill/>
        </p:spPr>
        <p:txBody>
          <a:bodyPr wrap="square" anchor="t" lIns="0" rIns="0" tIns="0" bIns="0">
            <a:spAutoFit/>
          </a:bodyPr>
          <a:lstStyle/>
          <a:p>
            <a:pPr algn="ctr">
              <a:lnSpc>
                <a:spcPct val="108000"/>
              </a:lnSpc>
            </a:pPr>
            <a:r>
              <a:rPr sz="1300" b="1">
                <a:solidFill>
                  <a:srgbClr val="0E4D64"/>
                </a:solidFill>
                <a:latin typeface="Arial"/>
              </a:rPr>
              <a:t>16 sources</a:t>
            </a:r>
          </a:p>
        </p:txBody>
      </p:sp>
      <p:sp>
        <p:nvSpPr>
          <p:cNvPr id="12" name="TextBox 11"/>
          <p:cNvSpPr txBox="1"/>
          <p:nvPr/>
        </p:nvSpPr>
        <p:spPr>
          <a:xfrm>
            <a:off x="6309360" y="1554480"/>
            <a:ext cx="5486400" cy="274320"/>
          </a:xfrm>
          <a:prstGeom prst="rect">
            <a:avLst/>
          </a:prstGeom>
          <a:noFill/>
        </p:spPr>
        <p:txBody>
          <a:bodyPr wrap="square" anchor="t" lIns="0" rIns="0" tIns="0" bIns="0">
            <a:spAutoFit/>
          </a:bodyPr>
          <a:lstStyle/>
          <a:p>
            <a:pPr algn="l">
              <a:lnSpc>
                <a:spcPct val="108000"/>
              </a:lnSpc>
            </a:pPr>
            <a:r>
              <a:rPr sz="1200" b="1">
                <a:solidFill>
                  <a:srgbClr val="17A2B8"/>
                </a:solidFill>
                <a:latin typeface="Arial"/>
              </a:rPr>
              <a:t>QUALITY CONTROL — ALL PASSING</a:t>
            </a:r>
          </a:p>
        </p:txBody>
      </p:sp>
      <p:sp>
        <p:nvSpPr>
          <p:cNvPr id="13" name="Rounded Rectangle 12"/>
          <p:cNvSpPr/>
          <p:nvPr/>
        </p:nvSpPr>
        <p:spPr>
          <a:xfrm>
            <a:off x="6309360" y="1874519"/>
            <a:ext cx="5120640" cy="2743200"/>
          </a:xfrm>
          <a:prstGeom prst="roundRect">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874519"/>
            <a:ext cx="82296" cy="2743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103120"/>
            <a:ext cx="4754880" cy="2377440"/>
          </a:xfrm>
          <a:prstGeom prst="rect">
            <a:avLst/>
          </a:prstGeom>
          <a:noFill/>
        </p:spPr>
        <p:txBody>
          <a:bodyPr wrap="square" anchor="t" lIns="0" rIns="0" tIns="0" bIns="0">
            <a:spAutoFit/>
          </a:bodyPr>
          <a:lstStyle/>
          <a:p>
            <a:pPr algn="l">
              <a:lnSpc>
                <a:spcPct val="150000"/>
              </a:lnSpc>
            </a:pPr>
            <a:r>
              <a:rPr sz="1500" b="0">
                <a:solidFill>
                  <a:srgbClr val="14202B"/>
                </a:solidFill>
                <a:latin typeface="Arial"/>
              </a:rPr>
              <a:t>✓ every category value from an allowed list</a:t>
            </a:r>
          </a:p>
          <a:p>
            <a:pPr algn="l">
              <a:lnSpc>
                <a:spcPct val="150000"/>
              </a:lnSpc>
            </a:pPr>
            <a:r>
              <a:rPr sz="1500" b="0">
                <a:solidFill>
                  <a:srgbClr val="14202B"/>
                </a:solidFill>
                <a:latin typeface="Arial"/>
              </a:rPr>
              <a:t>✓ column counts intact (17 / 23)</a:t>
            </a:r>
          </a:p>
          <a:p>
            <a:pPr algn="l">
              <a:lnSpc>
                <a:spcPct val="150000"/>
              </a:lnSpc>
            </a:pPr>
            <a:r>
              <a:rPr sz="1500" b="0">
                <a:solidFill>
                  <a:srgbClr val="14202B"/>
                </a:solidFill>
                <a:latin typeface="Arial"/>
              </a:rPr>
              <a:t>✓ every result links to a real drug — 0 orphans</a:t>
            </a:r>
          </a:p>
          <a:p>
            <a:pPr algn="l">
              <a:lnSpc>
                <a:spcPct val="150000"/>
              </a:lnSpc>
            </a:pPr>
            <a:r>
              <a:rPr sz="1500" b="0">
                <a:solidFill>
                  <a:srgbClr val="14202B"/>
                </a:solidFill>
                <a:latin typeface="Arial"/>
              </a:rPr>
              <a:t>✓ no duplicate IDs · grades all 0–3</a:t>
            </a:r>
          </a:p>
          <a:p>
            <a:pPr algn="l">
              <a:lnSpc>
                <a:spcPct val="150000"/>
              </a:lnSpc>
            </a:pPr>
            <a:r>
              <a:rPr sz="1500" b="0">
                <a:solidFill>
                  <a:srgbClr val="14202B"/>
                </a:solidFill>
                <a:latin typeface="Arial"/>
              </a:rPr>
              <a:t>✓ no-guessing sequence rule held</a:t>
            </a:r>
          </a:p>
        </p:txBody>
      </p:sp>
      <p:sp>
        <p:nvSpPr>
          <p:cNvPr id="16" name="TextBox 15"/>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17" name="TextBox 16"/>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Honest limitations</a:t>
            </a:r>
          </a:p>
        </p:txBody>
      </p:sp>
      <p:sp>
        <p:nvSpPr>
          <p:cNvPr id="4" name="TextBox 3"/>
          <p:cNvSpPr txBox="1"/>
          <p:nvPr/>
        </p:nvSpPr>
        <p:spPr>
          <a:xfrm>
            <a:off x="731520" y="1645920"/>
            <a:ext cx="5120640" cy="914400"/>
          </a:xfrm>
          <a:prstGeom prst="rect">
            <a:avLst/>
          </a:prstGeom>
          <a:noFill/>
        </p:spPr>
        <p:txBody>
          <a:bodyPr wrap="square" anchor="t" lIns="0" rIns="0" tIns="0" bIns="0">
            <a:spAutoFit/>
          </a:bodyPr>
          <a:lstStyle/>
          <a:p>
            <a:pPr algn="l">
              <a:lnSpc>
                <a:spcPct val="112000"/>
              </a:lnSpc>
            </a:pPr>
            <a:r>
              <a:rPr sz="1700" b="1">
                <a:solidFill>
                  <a:srgbClr val="17A2B8"/>
                </a:solidFill>
                <a:latin typeface="Arial"/>
              </a:rPr>
              <a:t>•  </a:t>
            </a:r>
            <a:r>
              <a:rPr sz="1700" b="1">
                <a:solidFill>
                  <a:srgbClr val="0E4D64"/>
                </a:solidFill>
                <a:latin typeface="Arial"/>
              </a:rPr>
              <a:t>Grades are provisional</a:t>
            </a:r>
            <a:r>
              <a:rPr sz="1700" b="0">
                <a:solidFill>
                  <a:srgbClr val="14202B"/>
                </a:solidFill>
                <a:latin typeface="Arial"/>
              </a:rPr>
              <a:t> — by rubric, awaiting expert sign-off.</a:t>
            </a:r>
          </a:p>
        </p:txBody>
      </p:sp>
      <p:sp>
        <p:nvSpPr>
          <p:cNvPr id="5" name="TextBox 4"/>
          <p:cNvSpPr txBox="1"/>
          <p:nvPr/>
        </p:nvSpPr>
        <p:spPr>
          <a:xfrm>
            <a:off x="731520" y="2514600"/>
            <a:ext cx="5120640" cy="914400"/>
          </a:xfrm>
          <a:prstGeom prst="rect">
            <a:avLst/>
          </a:prstGeom>
          <a:noFill/>
        </p:spPr>
        <p:txBody>
          <a:bodyPr wrap="square" anchor="t" lIns="0" rIns="0" tIns="0" bIns="0">
            <a:spAutoFit/>
          </a:bodyPr>
          <a:lstStyle/>
          <a:p>
            <a:pPr algn="l">
              <a:lnSpc>
                <a:spcPct val="112000"/>
              </a:lnSpc>
            </a:pPr>
            <a:r>
              <a:rPr sz="1700" b="1">
                <a:solidFill>
                  <a:srgbClr val="17A2B8"/>
                </a:solidFill>
                <a:latin typeface="Arial"/>
              </a:rPr>
              <a:t>•  </a:t>
            </a:r>
            <a:r>
              <a:rPr sz="1700" b="1">
                <a:solidFill>
                  <a:srgbClr val="0E4D64"/>
                </a:solidFill>
                <a:latin typeface="Arial"/>
              </a:rPr>
              <a:t>Sequences 33/65</a:t>
            </a:r>
            <a:r>
              <a:rPr sz="1700" b="0">
                <a:solidFill>
                  <a:srgbClr val="14202B"/>
                </a:solidFill>
                <a:latin typeface="Arial"/>
              </a:rPr>
              <a:t> — remaining gaps left blank, never guessed.</a:t>
            </a:r>
          </a:p>
        </p:txBody>
      </p:sp>
      <p:sp>
        <p:nvSpPr>
          <p:cNvPr id="6" name="TextBox 5"/>
          <p:cNvSpPr txBox="1"/>
          <p:nvPr/>
        </p:nvSpPr>
        <p:spPr>
          <a:xfrm>
            <a:off x="731520" y="3383280"/>
            <a:ext cx="5120640" cy="914400"/>
          </a:xfrm>
          <a:prstGeom prst="rect">
            <a:avLst/>
          </a:prstGeom>
          <a:noFill/>
        </p:spPr>
        <p:txBody>
          <a:bodyPr wrap="square" anchor="t" lIns="0" rIns="0" tIns="0" bIns="0">
            <a:spAutoFit/>
          </a:bodyPr>
          <a:lstStyle/>
          <a:p>
            <a:pPr algn="l">
              <a:lnSpc>
                <a:spcPct val="112000"/>
              </a:lnSpc>
            </a:pPr>
            <a:r>
              <a:rPr sz="1700" b="1">
                <a:solidFill>
                  <a:srgbClr val="17A2B8"/>
                </a:solidFill>
                <a:latin typeface="Arial"/>
              </a:rPr>
              <a:t>•  </a:t>
            </a:r>
            <a:r>
              <a:rPr sz="1700" b="1">
                <a:solidFill>
                  <a:srgbClr val="0E4D64"/>
                </a:solidFill>
                <a:latin typeface="Arial"/>
              </a:rPr>
              <a:t>36 'WS' rows</a:t>
            </a:r>
            <a:r>
              <a:rPr sz="1700" b="0">
                <a:solidFill>
                  <a:srgbClr val="14202B"/>
                </a:solidFill>
                <a:latin typeface="Arial"/>
              </a:rPr>
              <a:t> rest on web summaries — need primary-source check.</a:t>
            </a:r>
          </a:p>
        </p:txBody>
      </p:sp>
      <p:sp>
        <p:nvSpPr>
          <p:cNvPr id="7" name="TextBox 6"/>
          <p:cNvSpPr txBox="1"/>
          <p:nvPr/>
        </p:nvSpPr>
        <p:spPr>
          <a:xfrm>
            <a:off x="6309360" y="1645920"/>
            <a:ext cx="5120640" cy="914400"/>
          </a:xfrm>
          <a:prstGeom prst="rect">
            <a:avLst/>
          </a:prstGeom>
          <a:noFill/>
        </p:spPr>
        <p:txBody>
          <a:bodyPr wrap="square" anchor="t" lIns="0" rIns="0" tIns="0" bIns="0">
            <a:spAutoFit/>
          </a:bodyPr>
          <a:lstStyle/>
          <a:p>
            <a:pPr algn="l">
              <a:lnSpc>
                <a:spcPct val="112000"/>
              </a:lnSpc>
            </a:pPr>
            <a:r>
              <a:rPr sz="1700" b="1">
                <a:solidFill>
                  <a:srgbClr val="17A2B8"/>
                </a:solidFill>
                <a:latin typeface="Arial"/>
              </a:rPr>
              <a:t>•  </a:t>
            </a:r>
            <a:r>
              <a:rPr sz="1700" b="1">
                <a:solidFill>
                  <a:srgbClr val="0E4D64"/>
                </a:solidFill>
                <a:latin typeface="Arial"/>
              </a:rPr>
              <a:t>In-vitro human-cell rows (19)</a:t>
            </a:r>
            <a:r>
              <a:rPr sz="1700" b="0">
                <a:solidFill>
                  <a:srgbClr val="14202B"/>
                </a:solidFill>
                <a:latin typeface="Arial"/>
              </a:rPr>
              <a:t> are the core but a minority — top growth priority.</a:t>
            </a:r>
          </a:p>
        </p:txBody>
      </p:sp>
      <p:sp>
        <p:nvSpPr>
          <p:cNvPr id="8" name="TextBox 7"/>
          <p:cNvSpPr txBox="1"/>
          <p:nvPr/>
        </p:nvSpPr>
        <p:spPr>
          <a:xfrm>
            <a:off x="6309360" y="2514600"/>
            <a:ext cx="5120640" cy="914400"/>
          </a:xfrm>
          <a:prstGeom prst="rect">
            <a:avLst/>
          </a:prstGeom>
          <a:noFill/>
        </p:spPr>
        <p:txBody>
          <a:bodyPr wrap="square" anchor="t" lIns="0" rIns="0" tIns="0" bIns="0">
            <a:spAutoFit/>
          </a:bodyPr>
          <a:lstStyle/>
          <a:p>
            <a:pPr algn="l">
              <a:lnSpc>
                <a:spcPct val="112000"/>
              </a:lnSpc>
            </a:pPr>
            <a:r>
              <a:rPr sz="1700" b="1">
                <a:solidFill>
                  <a:srgbClr val="17A2B8"/>
                </a:solidFill>
                <a:latin typeface="Arial"/>
              </a:rPr>
              <a:t>•  </a:t>
            </a:r>
            <a:r>
              <a:rPr sz="1700" b="1">
                <a:solidFill>
                  <a:srgbClr val="0E4D64"/>
                </a:solidFill>
                <a:latin typeface="Arial"/>
              </a:rPr>
              <a:t>Animal over-prediction</a:t>
            </a:r>
            <a:r>
              <a:rPr sz="1700" b="0">
                <a:solidFill>
                  <a:srgbClr val="14202B"/>
                </a:solidFill>
                <a:latin typeface="Arial"/>
              </a:rPr>
              <a:t> is present by design — model it, don't ignore it.</a:t>
            </a:r>
          </a:p>
        </p:txBody>
      </p:sp>
      <p:sp>
        <p:nvSpPr>
          <p:cNvPr id="9" name="TextBox 8"/>
          <p:cNvSpPr txBox="1"/>
          <p:nvPr/>
        </p:nvSpPr>
        <p:spPr>
          <a:xfrm>
            <a:off x="731520" y="5394960"/>
            <a:ext cx="10698480" cy="457200"/>
          </a:xfrm>
          <a:prstGeom prst="rect">
            <a:avLst/>
          </a:prstGeom>
          <a:noFill/>
        </p:spPr>
        <p:txBody>
          <a:bodyPr wrap="square" anchor="t" lIns="0" rIns="0" tIns="0" bIns="0">
            <a:spAutoFit/>
          </a:bodyPr>
          <a:lstStyle/>
          <a:p>
            <a:pPr algn="l">
              <a:lnSpc>
                <a:spcPct val="108000"/>
              </a:lnSpc>
            </a:pPr>
            <a:r>
              <a:rPr sz="1400" b="0">
                <a:solidFill>
                  <a:srgbClr val="5A6B78"/>
                </a:solidFill>
                <a:latin typeface="Arial"/>
              </a:rPr>
              <a:t>Stating the soft spots plainly is part of the deliverable — a reviewer should know exactly where to push.</a:t>
            </a:r>
          </a:p>
        </p:txBody>
      </p:sp>
      <p:sp>
        <p:nvSpPr>
          <p:cNvPr id="10" name="TextBox 9"/>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11" name="TextBox 10"/>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What we need from the biochemistry expert</a:t>
            </a:r>
          </a:p>
        </p:txBody>
      </p:sp>
      <p:sp>
        <p:nvSpPr>
          <p:cNvPr id="4" name="Oval 3"/>
          <p:cNvSpPr/>
          <p:nvPr/>
        </p:nvSpPr>
        <p:spPr>
          <a:xfrm>
            <a:off x="731520" y="1600200"/>
            <a:ext cx="457200" cy="457200"/>
          </a:xfrm>
          <a:prstGeom prst="ellipse">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Arial"/>
              </a:rPr>
              <a:t>1</a:t>
            </a:r>
          </a:p>
        </p:txBody>
      </p:sp>
      <p:sp>
        <p:nvSpPr>
          <p:cNvPr id="5" name="TextBox 4"/>
          <p:cNvSpPr txBox="1"/>
          <p:nvPr/>
        </p:nvSpPr>
        <p:spPr>
          <a:xfrm>
            <a:off x="1371600" y="1554480"/>
            <a:ext cx="10058400" cy="1097280"/>
          </a:xfrm>
          <a:prstGeom prst="rect">
            <a:avLst/>
          </a:prstGeom>
          <a:noFill/>
        </p:spPr>
        <p:txBody>
          <a:bodyPr wrap="square" anchor="t" lIns="0" rIns="0" tIns="0" bIns="0">
            <a:spAutoFit/>
          </a:bodyPr>
          <a:lstStyle/>
          <a:p>
            <a:pPr algn="l">
              <a:lnSpc>
                <a:spcPct val="114000"/>
              </a:lnSpc>
            </a:pPr>
            <a:r>
              <a:rPr sz="1700" b="1">
                <a:solidFill>
                  <a:srgbClr val="0E4D64"/>
                </a:solidFill>
                <a:latin typeface="Arial"/>
              </a:rPr>
              <a:t>Grade sign-off. </a:t>
            </a:r>
            <a:r>
              <a:rPr sz="1700" b="0">
                <a:solidFill>
                  <a:srgbClr val="14202B"/>
                </a:solidFill>
                <a:latin typeface="Arial"/>
              </a:rPr>
              <a:t>Check the rubric→row mapping in measurements.csv so we can remove the 'provisional' flag. Hot spots: the grade 2↔3 line (biomarker rise vs. true AKI) and the patent words→grade mapping.</a:t>
            </a:r>
          </a:p>
        </p:txBody>
      </p:sp>
      <p:sp>
        <p:nvSpPr>
          <p:cNvPr id="6" name="Oval 5"/>
          <p:cNvSpPr/>
          <p:nvPr/>
        </p:nvSpPr>
        <p:spPr>
          <a:xfrm>
            <a:off x="731520" y="2834640"/>
            <a:ext cx="457200" cy="457200"/>
          </a:xfrm>
          <a:prstGeom prst="ellipse">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Arial"/>
              </a:rPr>
              <a:t>2</a:t>
            </a:r>
          </a:p>
        </p:txBody>
      </p:sp>
      <p:sp>
        <p:nvSpPr>
          <p:cNvPr id="7" name="TextBox 6"/>
          <p:cNvSpPr txBox="1"/>
          <p:nvPr/>
        </p:nvSpPr>
        <p:spPr>
          <a:xfrm>
            <a:off x="1371600" y="2788920"/>
            <a:ext cx="10058400" cy="1097280"/>
          </a:xfrm>
          <a:prstGeom prst="rect">
            <a:avLst/>
          </a:prstGeom>
          <a:noFill/>
        </p:spPr>
        <p:txBody>
          <a:bodyPr wrap="square" anchor="t" lIns="0" rIns="0" tIns="0" bIns="0">
            <a:spAutoFit/>
          </a:bodyPr>
          <a:lstStyle/>
          <a:p>
            <a:pPr algn="l">
              <a:lnSpc>
                <a:spcPct val="114000"/>
              </a:lnSpc>
            </a:pPr>
            <a:r>
              <a:rPr sz="1700" b="1">
                <a:solidFill>
                  <a:srgbClr val="0E4D64"/>
                </a:solidFill>
                <a:latin typeface="Arial"/>
              </a:rPr>
              <a:t>Biology sanity check. </a:t>
            </a:r>
            <a:r>
              <a:rPr sz="1700" b="0">
                <a:solidFill>
                  <a:srgbClr val="14202B"/>
                </a:solidFill>
                <a:latin typeface="Arial"/>
              </a:rPr>
              <a:t>Is the functional-vs-structural story (megalin/cubilin → protein leak → grade 1) faithful, and are the readout→severity calls physiologically sound?</a:t>
            </a:r>
          </a:p>
        </p:txBody>
      </p:sp>
      <p:sp>
        <p:nvSpPr>
          <p:cNvPr id="8" name="Oval 7"/>
          <p:cNvSpPr/>
          <p:nvPr/>
        </p:nvSpPr>
        <p:spPr>
          <a:xfrm>
            <a:off x="731520" y="4069080"/>
            <a:ext cx="457200" cy="457200"/>
          </a:xfrm>
          <a:prstGeom prst="ellipse">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Arial"/>
              </a:rPr>
              <a:t>3</a:t>
            </a:r>
          </a:p>
        </p:txBody>
      </p:sp>
      <p:sp>
        <p:nvSpPr>
          <p:cNvPr id="9" name="TextBox 8"/>
          <p:cNvSpPr txBox="1"/>
          <p:nvPr/>
        </p:nvSpPr>
        <p:spPr>
          <a:xfrm>
            <a:off x="1371600" y="4023360"/>
            <a:ext cx="10058400" cy="1097280"/>
          </a:xfrm>
          <a:prstGeom prst="rect">
            <a:avLst/>
          </a:prstGeom>
          <a:noFill/>
        </p:spPr>
        <p:txBody>
          <a:bodyPr wrap="square" anchor="t" lIns="0" rIns="0" tIns="0" bIns="0">
            <a:spAutoFit/>
          </a:bodyPr>
          <a:lstStyle/>
          <a:p>
            <a:pPr algn="l">
              <a:lnSpc>
                <a:spcPct val="114000"/>
              </a:lnSpc>
            </a:pPr>
            <a:r>
              <a:rPr sz="1700" b="1">
                <a:solidFill>
                  <a:srgbClr val="0E4D64"/>
                </a:solidFill>
                <a:latin typeface="Arial"/>
              </a:rPr>
              <a:t>Source confidence. </a:t>
            </a:r>
            <a:r>
              <a:rPr sz="1700" b="0">
                <a:solidFill>
                  <a:srgbClr val="14202B"/>
                </a:solidFill>
                <a:latin typeface="Arial"/>
              </a:rPr>
              <a:t>Flag any anchor — especially the 36 'WS' rows — you'd want re-verified against the primary text before release.</a:t>
            </a:r>
          </a:p>
        </p:txBody>
      </p:sp>
      <p:sp>
        <p:nvSpPr>
          <p:cNvPr id="10" name="TextBox 9"/>
          <p:cNvSpPr txBox="1"/>
          <p:nvPr/>
        </p:nvSpPr>
        <p:spPr>
          <a:xfrm>
            <a:off x="731520" y="5532120"/>
            <a:ext cx="10698480" cy="548640"/>
          </a:xfrm>
          <a:prstGeom prst="rect">
            <a:avLst/>
          </a:prstGeom>
          <a:noFill/>
        </p:spPr>
        <p:txBody>
          <a:bodyPr wrap="square" anchor="t" lIns="0" rIns="0" tIns="0" bIns="0">
            <a:spAutoFit/>
          </a:bodyPr>
          <a:lstStyle/>
          <a:p>
            <a:pPr algn="l">
              <a:lnSpc>
                <a:spcPct val="108000"/>
              </a:lnSpc>
            </a:pPr>
            <a:r>
              <a:rPr sz="1400" b="1">
                <a:solidFill>
                  <a:srgbClr val="0E4D64"/>
                </a:solidFill>
                <a:latin typeface="Arial"/>
              </a:rPr>
              <a:t>On hold until sign-off:</a:t>
            </a:r>
            <a:r>
              <a:rPr sz="1400" b="0">
                <a:solidFill>
                  <a:srgbClr val="5A6B78"/>
                </a:solidFill>
                <a:latin typeface="Arial"/>
              </a:rPr>
              <a:t> the ≤12-page narrative · verifying WS rows · backfilling sequences · mining patent N4 for more rows.</a:t>
            </a:r>
          </a:p>
        </p:txBody>
      </p:sp>
      <p:sp>
        <p:nvSpPr>
          <p:cNvPr id="11" name="TextBox 10"/>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12" name="TextBox 11"/>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100584" cy="566928"/>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89920" cy="731520"/>
          </a:xfrm>
          <a:prstGeom prst="rect">
            <a:avLst/>
          </a:prstGeom>
          <a:noFill/>
        </p:spPr>
        <p:txBody>
          <a:bodyPr wrap="square" anchor="t" lIns="0" rIns="0" tIns="0" bIns="0">
            <a:spAutoFit/>
          </a:bodyPr>
          <a:lstStyle/>
          <a:p>
            <a:pPr algn="l">
              <a:lnSpc>
                <a:spcPct val="108000"/>
              </a:lnSpc>
            </a:pPr>
            <a:r>
              <a:rPr sz="2700" b="1">
                <a:solidFill>
                  <a:srgbClr val="0E4D64"/>
                </a:solidFill>
                <a:latin typeface="Arial"/>
              </a:rPr>
              <a:t>Where everything lives</a:t>
            </a:r>
          </a:p>
        </p:txBody>
      </p:sp>
      <p:sp>
        <p:nvSpPr>
          <p:cNvPr id="4" name="Rounded Rectangle 3"/>
          <p:cNvSpPr/>
          <p:nvPr/>
        </p:nvSpPr>
        <p:spPr>
          <a:xfrm>
            <a:off x="731520" y="1508760"/>
            <a:ext cx="10725912" cy="3200400"/>
          </a:xfrm>
          <a:prstGeom prst="roundRect">
            <a:avLst/>
          </a:prstGeom>
          <a:solidFill>
            <a:srgbClr val="F5F8FA"/>
          </a:solidFill>
          <a:ln w="12700">
            <a:solidFill>
              <a:srgbClr val="E1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README.md</a:t>
            </a:r>
          </a:p>
        </p:txBody>
      </p:sp>
      <p:sp>
        <p:nvSpPr>
          <p:cNvPr id="6" name="TextBox 5"/>
          <p:cNvSpPr txBox="1"/>
          <p:nvPr/>
        </p:nvSpPr>
        <p:spPr>
          <a:xfrm>
            <a:off x="4572000" y="1737360"/>
            <a:ext cx="6675120" cy="320040"/>
          </a:xfrm>
          <a:prstGeom prst="rect">
            <a:avLst/>
          </a:prstGeom>
          <a:noFill/>
        </p:spPr>
        <p:txBody>
          <a:bodyPr wrap="square" anchor="t" lIns="0" rIns="0" tIns="0" bIns="0">
            <a:spAutoFit/>
          </a:bodyPr>
          <a:lstStyle/>
          <a:p>
            <a:pPr algn="l">
              <a:lnSpc>
                <a:spcPct val="108000"/>
              </a:lnSpc>
            </a:pPr>
            <a:r>
              <a:rPr sz="1500" b="0">
                <a:solidFill>
                  <a:srgbClr val="14202B"/>
                </a:solidFill>
                <a:latin typeface="Arial"/>
              </a:rPr>
              <a:t>strategy, scope, live record counter</a:t>
            </a:r>
          </a:p>
        </p:txBody>
      </p:sp>
      <p:sp>
        <p:nvSpPr>
          <p:cNvPr id="7" name="TextBox 6"/>
          <p:cNvSpPr txBox="1"/>
          <p:nvPr/>
        </p:nvSpPr>
        <p:spPr>
          <a:xfrm>
            <a:off x="1005840" y="2103120"/>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schema.md</a:t>
            </a:r>
          </a:p>
        </p:txBody>
      </p:sp>
      <p:sp>
        <p:nvSpPr>
          <p:cNvPr id="8" name="TextBox 7"/>
          <p:cNvSpPr txBox="1"/>
          <p:nvPr/>
        </p:nvSpPr>
        <p:spPr>
          <a:xfrm>
            <a:off x="4572000" y="2103120"/>
            <a:ext cx="6675120" cy="320040"/>
          </a:xfrm>
          <a:prstGeom prst="rect">
            <a:avLst/>
          </a:prstGeom>
          <a:noFill/>
        </p:spPr>
        <p:txBody>
          <a:bodyPr wrap="square" anchor="t" lIns="0" rIns="0" tIns="0" bIns="0">
            <a:spAutoFit/>
          </a:bodyPr>
          <a:lstStyle/>
          <a:p>
            <a:pPr algn="l">
              <a:lnSpc>
                <a:spcPct val="108000"/>
              </a:lnSpc>
            </a:pPr>
            <a:r>
              <a:rPr sz="1500" b="0">
                <a:solidFill>
                  <a:srgbClr val="14202B"/>
                </a:solidFill>
                <a:latin typeface="Arial"/>
              </a:rPr>
              <a:t>data dictionary + the grade rubric</a:t>
            </a:r>
          </a:p>
        </p:txBody>
      </p:sp>
      <p:sp>
        <p:nvSpPr>
          <p:cNvPr id="9" name="TextBox 8"/>
          <p:cNvSpPr txBox="1"/>
          <p:nvPr/>
        </p:nvSpPr>
        <p:spPr>
          <a:xfrm>
            <a:off x="1005840" y="2468879"/>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METHODOLOGY.md</a:t>
            </a:r>
          </a:p>
        </p:txBody>
      </p:sp>
      <p:sp>
        <p:nvSpPr>
          <p:cNvPr id="10" name="TextBox 9"/>
          <p:cNvSpPr txBox="1"/>
          <p:nvPr/>
        </p:nvSpPr>
        <p:spPr>
          <a:xfrm>
            <a:off x="4572000" y="2468879"/>
            <a:ext cx="6675120" cy="320040"/>
          </a:xfrm>
          <a:prstGeom prst="rect">
            <a:avLst/>
          </a:prstGeom>
          <a:noFill/>
        </p:spPr>
        <p:txBody>
          <a:bodyPr wrap="square" anchor="t" lIns="0" rIns="0" tIns="0" bIns="0">
            <a:spAutoFit/>
          </a:bodyPr>
          <a:lstStyle/>
          <a:p>
            <a:pPr algn="l">
              <a:lnSpc>
                <a:spcPct val="108000"/>
              </a:lnSpc>
            </a:pPr>
            <a:r>
              <a:rPr sz="1500" b="0">
                <a:solidFill>
                  <a:srgbClr val="14202B"/>
                </a:solidFill>
                <a:latin typeface="Arial"/>
              </a:rPr>
              <a:t>how it was built (sources → grading → QC)</a:t>
            </a:r>
          </a:p>
        </p:txBody>
      </p:sp>
      <p:sp>
        <p:nvSpPr>
          <p:cNvPr id="11" name="TextBox 10"/>
          <p:cNvSpPr txBox="1"/>
          <p:nvPr/>
        </p:nvSpPr>
        <p:spPr>
          <a:xfrm>
            <a:off x="1005840" y="2834639"/>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PADP.md</a:t>
            </a:r>
          </a:p>
        </p:txBody>
      </p:sp>
      <p:sp>
        <p:nvSpPr>
          <p:cNvPr id="12" name="TextBox 11"/>
          <p:cNvSpPr txBox="1"/>
          <p:nvPr/>
        </p:nvSpPr>
        <p:spPr>
          <a:xfrm>
            <a:off x="4572000" y="2834639"/>
            <a:ext cx="6675120" cy="320040"/>
          </a:xfrm>
          <a:prstGeom prst="rect">
            <a:avLst/>
          </a:prstGeom>
          <a:noFill/>
        </p:spPr>
        <p:txBody>
          <a:bodyPr wrap="square" anchor="t" lIns="0" rIns="0" tIns="0" bIns="0">
            <a:spAutoFit/>
          </a:bodyPr>
          <a:lstStyle/>
          <a:p>
            <a:pPr algn="l">
              <a:lnSpc>
                <a:spcPct val="108000"/>
              </a:lnSpc>
            </a:pPr>
            <a:r>
              <a:rPr sz="1500" b="0">
                <a:solidFill>
                  <a:srgbClr val="14202B"/>
                </a:solidFill>
                <a:latin typeface="Arial"/>
              </a:rPr>
              <a:t>public access &amp; dissemination plan (licensing)</a:t>
            </a:r>
          </a:p>
        </p:txBody>
      </p:sp>
      <p:sp>
        <p:nvSpPr>
          <p:cNvPr id="13" name="TextBox 12"/>
          <p:cNvSpPr txBox="1"/>
          <p:nvPr/>
        </p:nvSpPr>
        <p:spPr>
          <a:xfrm>
            <a:off x="1005840" y="3200399"/>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PRESENTATION.md</a:t>
            </a:r>
          </a:p>
        </p:txBody>
      </p:sp>
      <p:sp>
        <p:nvSpPr>
          <p:cNvPr id="14" name="TextBox 13"/>
          <p:cNvSpPr txBox="1"/>
          <p:nvPr/>
        </p:nvSpPr>
        <p:spPr>
          <a:xfrm>
            <a:off x="4572000" y="3200399"/>
            <a:ext cx="6675120" cy="320040"/>
          </a:xfrm>
          <a:prstGeom prst="rect">
            <a:avLst/>
          </a:prstGeom>
          <a:noFill/>
        </p:spPr>
        <p:txBody>
          <a:bodyPr wrap="square" anchor="t" lIns="0" rIns="0" tIns="0" bIns="0">
            <a:spAutoFit/>
          </a:bodyPr>
          <a:lstStyle/>
          <a:p>
            <a:pPr algn="l">
              <a:lnSpc>
                <a:spcPct val="108000"/>
              </a:lnSpc>
            </a:pPr>
            <a:r>
              <a:rPr sz="1500" b="0">
                <a:solidFill>
                  <a:srgbClr val="14202B"/>
                </a:solidFill>
                <a:latin typeface="Arial"/>
              </a:rPr>
              <a:t>this deck (+ plain-English speaker notes)</a:t>
            </a:r>
          </a:p>
        </p:txBody>
      </p:sp>
      <p:sp>
        <p:nvSpPr>
          <p:cNvPr id="15" name="TextBox 14"/>
          <p:cNvSpPr txBox="1"/>
          <p:nvPr/>
        </p:nvSpPr>
        <p:spPr>
          <a:xfrm>
            <a:off x="1005840" y="3566159"/>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data/oligos.csv</a:t>
            </a:r>
          </a:p>
        </p:txBody>
      </p:sp>
      <p:sp>
        <p:nvSpPr>
          <p:cNvPr id="16" name="TextBox 15"/>
          <p:cNvSpPr txBox="1"/>
          <p:nvPr/>
        </p:nvSpPr>
        <p:spPr>
          <a:xfrm>
            <a:off x="4572000" y="3566159"/>
            <a:ext cx="6675120" cy="320040"/>
          </a:xfrm>
          <a:prstGeom prst="rect">
            <a:avLst/>
          </a:prstGeom>
          <a:noFill/>
        </p:spPr>
        <p:txBody>
          <a:bodyPr wrap="square" anchor="t" lIns="0" rIns="0" tIns="0" bIns="0">
            <a:spAutoFit/>
          </a:bodyPr>
          <a:lstStyle/>
          <a:p>
            <a:pPr algn="l">
              <a:lnSpc>
                <a:spcPct val="108000"/>
              </a:lnSpc>
            </a:pPr>
            <a:r>
              <a:rPr sz="1500" b="0">
                <a:solidFill>
                  <a:srgbClr val="14202B"/>
                </a:solidFill>
                <a:latin typeface="Arial"/>
              </a:rPr>
              <a:t>65 drugs · 17 design columns</a:t>
            </a:r>
          </a:p>
        </p:txBody>
      </p:sp>
      <p:sp>
        <p:nvSpPr>
          <p:cNvPr id="17" name="TextBox 16"/>
          <p:cNvSpPr txBox="1"/>
          <p:nvPr/>
        </p:nvSpPr>
        <p:spPr>
          <a:xfrm>
            <a:off x="1005840" y="3931920"/>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data/measurements.csv</a:t>
            </a:r>
          </a:p>
        </p:txBody>
      </p:sp>
      <p:sp>
        <p:nvSpPr>
          <p:cNvPr id="18" name="TextBox 17"/>
          <p:cNvSpPr txBox="1"/>
          <p:nvPr/>
        </p:nvSpPr>
        <p:spPr>
          <a:xfrm>
            <a:off x="4572000" y="3931920"/>
            <a:ext cx="667512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Arial"/>
              </a:rPr>
              <a:t>111 graded rows  ← review here</a:t>
            </a:r>
          </a:p>
        </p:txBody>
      </p:sp>
      <p:sp>
        <p:nvSpPr>
          <p:cNvPr id="19" name="TextBox 18"/>
          <p:cNvSpPr txBox="1"/>
          <p:nvPr/>
        </p:nvSpPr>
        <p:spPr>
          <a:xfrm>
            <a:off x="1005840" y="4297680"/>
            <a:ext cx="3840480" cy="320040"/>
          </a:xfrm>
          <a:prstGeom prst="rect">
            <a:avLst/>
          </a:prstGeom>
          <a:noFill/>
        </p:spPr>
        <p:txBody>
          <a:bodyPr wrap="square" anchor="t" lIns="0" rIns="0" tIns="0" bIns="0">
            <a:spAutoFit/>
          </a:bodyPr>
          <a:lstStyle/>
          <a:p>
            <a:pPr algn="l">
              <a:lnSpc>
                <a:spcPct val="108000"/>
              </a:lnSpc>
            </a:pPr>
            <a:r>
              <a:rPr sz="1500" b="1">
                <a:solidFill>
                  <a:srgbClr val="0E4D64"/>
                </a:solidFill>
                <a:latin typeface="Consolas"/>
              </a:rPr>
              <a:t>sources/</a:t>
            </a:r>
          </a:p>
        </p:txBody>
      </p:sp>
      <p:sp>
        <p:nvSpPr>
          <p:cNvPr id="20" name="TextBox 19"/>
          <p:cNvSpPr txBox="1"/>
          <p:nvPr/>
        </p:nvSpPr>
        <p:spPr>
          <a:xfrm>
            <a:off x="4572000" y="4297680"/>
            <a:ext cx="6675120" cy="320040"/>
          </a:xfrm>
          <a:prstGeom prst="rect">
            <a:avLst/>
          </a:prstGeom>
          <a:noFill/>
        </p:spPr>
        <p:txBody>
          <a:bodyPr wrap="square" anchor="t" lIns="0" rIns="0" tIns="0" bIns="0">
            <a:spAutoFit/>
          </a:bodyPr>
          <a:lstStyle/>
          <a:p>
            <a:pPr algn="l">
              <a:lnSpc>
                <a:spcPct val="108000"/>
              </a:lnSpc>
            </a:pPr>
            <a:r>
              <a:rPr sz="1500" b="0">
                <a:solidFill>
                  <a:srgbClr val="14202B"/>
                </a:solidFill>
                <a:latin typeface="Arial"/>
              </a:rPr>
              <a:t>the source PDFs + the source registry</a:t>
            </a:r>
          </a:p>
        </p:txBody>
      </p:sp>
      <p:sp>
        <p:nvSpPr>
          <p:cNvPr id="21" name="Rounded Rectangle 20"/>
          <p:cNvSpPr/>
          <p:nvPr/>
        </p:nvSpPr>
        <p:spPr>
          <a:xfrm>
            <a:off x="731520" y="4937760"/>
            <a:ext cx="10725912" cy="1097280"/>
          </a:xfrm>
          <a:prstGeom prst="roundRect">
            <a:avLst/>
          </a:prstGeom>
          <a:solidFill>
            <a:srgbClr val="EA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937760"/>
            <a:ext cx="82296" cy="109728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120640"/>
            <a:ext cx="10241280" cy="822960"/>
          </a:xfrm>
          <a:prstGeom prst="rect">
            <a:avLst/>
          </a:prstGeom>
          <a:noFill/>
        </p:spPr>
        <p:txBody>
          <a:bodyPr wrap="square" anchor="t" lIns="0" rIns="0" tIns="0" bIns="0">
            <a:spAutoFit/>
          </a:bodyPr>
          <a:lstStyle/>
          <a:p>
            <a:pPr algn="l">
              <a:lnSpc>
                <a:spcPct val="115000"/>
              </a:lnSpc>
            </a:pPr>
            <a:r>
              <a:rPr sz="1500" b="1">
                <a:solidFill>
                  <a:srgbClr val="0E4D64"/>
                </a:solidFill>
                <a:latin typeface="Arial"/>
              </a:rPr>
              <a:t>Thank you — feedback welcome at the row level.</a:t>
            </a:r>
            <a:r>
              <a:rPr sz="1500" b="0">
                <a:solidFill>
                  <a:srgbClr val="14202B"/>
                </a:solidFill>
                <a:latin typeface="Arial"/>
              </a:rPr>
              <a:t> Every number in this deck regenerates from data/; nothing is hand-maintained prose detached from the tables.</a:t>
            </a:r>
          </a:p>
        </p:txBody>
      </p:sp>
      <p:sp>
        <p:nvSpPr>
          <p:cNvPr id="24" name="TextBox 23"/>
          <p:cNvSpPr txBox="1"/>
          <p:nvPr/>
        </p:nvSpPr>
        <p:spPr>
          <a:xfrm>
            <a:off x="502920" y="6455664"/>
            <a:ext cx="7315200" cy="274320"/>
          </a:xfrm>
          <a:prstGeom prst="rect">
            <a:avLst/>
          </a:prstGeom>
          <a:noFill/>
        </p:spPr>
        <p:txBody>
          <a:bodyPr wrap="square" anchor="t" lIns="0" rIns="0" tIns="0" bIns="0">
            <a:spAutoFit/>
          </a:bodyPr>
          <a:lstStyle/>
          <a:p>
            <a:pPr algn="l">
              <a:lnSpc>
                <a:spcPct val="108000"/>
              </a:lnSpc>
            </a:pPr>
            <a:r>
              <a:rPr sz="1000" b="0">
                <a:solidFill>
                  <a:srgbClr val="9AB0BC"/>
                </a:solidFill>
                <a:latin typeface="Arial"/>
              </a:rPr>
              <a:t>OligoTox-Kidney · NCATS OligoTox Open Data Challenge — Phase 2</a:t>
            </a:r>
          </a:p>
        </p:txBody>
      </p:sp>
      <p:sp>
        <p:nvSpPr>
          <p:cNvPr id="25" name="TextBox 24"/>
          <p:cNvSpPr txBox="1"/>
          <p:nvPr/>
        </p:nvSpPr>
        <p:spPr>
          <a:xfrm>
            <a:off x="11338560" y="6455664"/>
            <a:ext cx="548640" cy="274320"/>
          </a:xfrm>
          <a:prstGeom prst="rect">
            <a:avLst/>
          </a:prstGeom>
          <a:noFill/>
        </p:spPr>
        <p:txBody>
          <a:bodyPr wrap="square" anchor="t" lIns="0" rIns="0" tIns="0" bIns="0">
            <a:spAutoFit/>
          </a:bodyPr>
          <a:lstStyle/>
          <a:p>
            <a:pPr algn="r">
              <a:lnSpc>
                <a:spcPct val="108000"/>
              </a:lnSpc>
            </a:pPr>
            <a:r>
              <a:rPr sz="1000" b="0">
                <a:solidFill>
                  <a:srgbClr val="9AB0BC"/>
                </a:solidFill>
                <a:latin typeface="Arial"/>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